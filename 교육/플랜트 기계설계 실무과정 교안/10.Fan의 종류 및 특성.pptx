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523" r:id="rId2"/>
    <p:sldId id="787" r:id="rId3"/>
    <p:sldId id="944" r:id="rId4"/>
    <p:sldId id="943" r:id="rId5"/>
    <p:sldId id="945" r:id="rId6"/>
    <p:sldId id="946" r:id="rId7"/>
    <p:sldId id="992" r:id="rId8"/>
    <p:sldId id="947" r:id="rId9"/>
    <p:sldId id="948" r:id="rId10"/>
    <p:sldId id="949" r:id="rId11"/>
    <p:sldId id="951" r:id="rId12"/>
    <p:sldId id="952" r:id="rId13"/>
    <p:sldId id="953" r:id="rId14"/>
    <p:sldId id="955" r:id="rId15"/>
    <p:sldId id="957" r:id="rId16"/>
    <p:sldId id="954" r:id="rId17"/>
    <p:sldId id="956" r:id="rId18"/>
    <p:sldId id="958" r:id="rId19"/>
    <p:sldId id="959" r:id="rId20"/>
    <p:sldId id="960" r:id="rId21"/>
    <p:sldId id="962" r:id="rId22"/>
    <p:sldId id="963" r:id="rId23"/>
    <p:sldId id="964" r:id="rId24"/>
    <p:sldId id="965" r:id="rId25"/>
    <p:sldId id="968" r:id="rId26"/>
    <p:sldId id="969" r:id="rId27"/>
    <p:sldId id="970" r:id="rId28"/>
    <p:sldId id="971" r:id="rId29"/>
    <p:sldId id="976" r:id="rId30"/>
    <p:sldId id="884" r:id="rId31"/>
    <p:sldId id="974" r:id="rId32"/>
    <p:sldId id="885" r:id="rId33"/>
    <p:sldId id="978" r:id="rId34"/>
    <p:sldId id="977" r:id="rId35"/>
    <p:sldId id="979" r:id="rId36"/>
    <p:sldId id="922" r:id="rId37"/>
    <p:sldId id="982" r:id="rId38"/>
    <p:sldId id="985" r:id="rId39"/>
    <p:sldId id="983" r:id="rId40"/>
    <p:sldId id="989" r:id="rId41"/>
    <p:sldId id="986" r:id="rId42"/>
    <p:sldId id="990" r:id="rId43"/>
    <p:sldId id="991" r:id="rId44"/>
  </p:sldIdLst>
  <p:sldSz cx="9144000" cy="5143500" type="screen16x9"/>
  <p:notesSz cx="6797675" cy="9926638"/>
  <p:embeddedFontLst>
    <p:embeddedFont>
      <p:font typeface="나눔고딕 ExtraBold" pitchFamily="50" charset="-127"/>
      <p:bold r:id="rId47"/>
    </p:embeddedFont>
    <p:embeddedFont>
      <p:font typeface="나눔고딕" pitchFamily="50" charset="-127"/>
      <p:regular r:id="rId48"/>
      <p:bold r:id="rId49"/>
    </p:embeddedFont>
    <p:embeddedFont>
      <p:font typeface="Cambria" pitchFamily="18" charset="0"/>
      <p:regular r:id="rId50"/>
      <p:bold r:id="rId51"/>
      <p:italic r:id="rId52"/>
      <p:boldItalic r:id="rId53"/>
    </p:embeddedFont>
    <p:embeddedFont>
      <p:font typeface="맑은 고딕" pitchFamily="50" charset="-127"/>
      <p:regular r:id="rId54"/>
      <p:bold r:id="rId55"/>
    </p:embeddedFont>
    <p:embeddedFont>
      <p:font typeface="Calibri" pitchFamily="34" charset="0"/>
      <p:regular r:id="rId56"/>
      <p:bold r:id="rId57"/>
      <p:italic r:id="rId58"/>
      <p:boldItalic r:id="rId59"/>
    </p:embeddedFont>
    <p:embeddedFont>
      <p:font typeface="바른돋움 2" pitchFamily="18" charset="-127"/>
      <p:regular r:id="rId60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3366"/>
    <a:srgbClr val="EEECE1"/>
    <a:srgbClr val="FFFF99"/>
    <a:srgbClr val="DCE6F2"/>
    <a:srgbClr val="C6D9F1"/>
    <a:srgbClr val="CCFF33"/>
    <a:srgbClr val="99FF66"/>
    <a:srgbClr val="99FF99"/>
    <a:srgbClr val="0000FF"/>
    <a:srgbClr val="00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9022" autoAdjust="0"/>
  </p:normalViewPr>
  <p:slideViewPr>
    <p:cSldViewPr showGuides="1">
      <p:cViewPr varScale="1">
        <p:scale>
          <a:sx n="149" d="100"/>
          <a:sy n="149" d="100"/>
        </p:scale>
        <p:origin x="-708" y="-90"/>
      </p:cViewPr>
      <p:guideLst>
        <p:guide orient="horz" pos="713"/>
        <p:guide pos="249"/>
        <p:guide pos="41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-3210" y="-126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59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35" cy="496253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955" y="0"/>
            <a:ext cx="2946135" cy="496253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731A81D-BFA1-4D09-A8B6-A235B37B1716}" type="datetimeFigureOut">
              <a:rPr lang="ko-KR" altLang="en-US"/>
              <a:pPr>
                <a:defRPr/>
              </a:pPr>
              <a:t>2013-08-11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946135" cy="496252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955" y="9428800"/>
            <a:ext cx="2946135" cy="496252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7C42D0-037E-4494-A2D0-0AA9AFB3C53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34834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35" cy="496253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955" y="0"/>
            <a:ext cx="2946135" cy="496253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4B0E049-F0F4-498D-BF8C-4D2BDC4373E8}" type="datetimeFigureOut">
              <a:rPr lang="ko-KR" altLang="en-US"/>
              <a:pPr>
                <a:defRPr/>
              </a:pPr>
              <a:t>2013-08-11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4" y="4715192"/>
            <a:ext cx="5437188" cy="4466274"/>
          </a:xfrm>
          <a:prstGeom prst="rect">
            <a:avLst/>
          </a:prstGeom>
        </p:spPr>
        <p:txBody>
          <a:bodyPr vert="horz" lIns="91321" tIns="45661" rIns="91321" bIns="45661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800"/>
            <a:ext cx="2946135" cy="496252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955" y="9428800"/>
            <a:ext cx="2946135" cy="496252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CF40AA-1555-4CF8-BD10-1DD5F5DF975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73669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19"/>
          <p:cNvSpPr>
            <a:spLocks noChangeArrowheads="1"/>
          </p:cNvSpPr>
          <p:nvPr userDrawn="1"/>
        </p:nvSpPr>
        <p:spPr bwMode="auto">
          <a:xfrm>
            <a:off x="955675" y="1143000"/>
            <a:ext cx="1598613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ko-KR" altLang="en-US" sz="4000" dirty="0">
                <a:solidFill>
                  <a:schemeClr val="bg1"/>
                </a:solidFill>
                <a:latin typeface="바른돋움 2" pitchFamily="18" charset="-127"/>
                <a:ea typeface="바른돋움 2" pitchFamily="18" charset="-127"/>
              </a:rPr>
              <a:t>플랜트</a:t>
            </a:r>
          </a:p>
        </p:txBody>
      </p:sp>
      <p:sp>
        <p:nvSpPr>
          <p:cNvPr id="4" name="직사각형 19"/>
          <p:cNvSpPr>
            <a:spLocks noChangeArrowheads="1"/>
          </p:cNvSpPr>
          <p:nvPr userDrawn="1"/>
        </p:nvSpPr>
        <p:spPr bwMode="auto">
          <a:xfrm>
            <a:off x="2409825" y="1276350"/>
            <a:ext cx="2162175" cy="492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기계설계 실무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19"/>
          <p:cNvSpPr>
            <a:spLocks noChangeArrowheads="1"/>
          </p:cNvSpPr>
          <p:nvPr userDrawn="1"/>
        </p:nvSpPr>
        <p:spPr bwMode="auto">
          <a:xfrm>
            <a:off x="75963" y="50800"/>
            <a:ext cx="4635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en-US" altLang="ko-KR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itchFamily="50" charset="-127"/>
                <a:ea typeface="나눔고딕 ExtraBold" pitchFamily="50" charset="-127"/>
              </a:rPr>
              <a:t>10</a:t>
            </a:r>
            <a:endParaRPr kumimoji="0" lang="ko-KR" altLang="en-US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19"/>
          <p:cNvSpPr>
            <a:spLocks noChangeArrowheads="1"/>
          </p:cNvSpPr>
          <p:nvPr/>
        </p:nvSpPr>
        <p:spPr bwMode="auto">
          <a:xfrm>
            <a:off x="1012034" y="213995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7" name="직사각형 19"/>
          <p:cNvSpPr>
            <a:spLocks noChangeArrowheads="1"/>
          </p:cNvSpPr>
          <p:nvPr/>
        </p:nvSpPr>
        <p:spPr bwMode="auto">
          <a:xfrm>
            <a:off x="611188" y="2139950"/>
            <a:ext cx="5341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ko-KR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itchFamily="50" charset="-127"/>
                <a:ea typeface="나눔고딕 ExtraBold" pitchFamily="50" charset="-127"/>
              </a:rPr>
              <a:t>10.</a:t>
            </a:r>
            <a:endParaRPr kumimoji="0" lang="ko-KR" altLang="en-US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8" name="직사각형 19"/>
          <p:cNvSpPr>
            <a:spLocks noChangeArrowheads="1"/>
          </p:cNvSpPr>
          <p:nvPr/>
        </p:nvSpPr>
        <p:spPr bwMode="auto">
          <a:xfrm>
            <a:off x="1222375" y="2509838"/>
            <a:ext cx="43576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ko-KR" altLang="en-US" sz="1600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</a:p>
        </p:txBody>
      </p:sp>
      <p:sp>
        <p:nvSpPr>
          <p:cNvPr id="10" name="직사각형 19"/>
          <p:cNvSpPr>
            <a:spLocks noChangeArrowheads="1"/>
          </p:cNvSpPr>
          <p:nvPr/>
        </p:nvSpPr>
        <p:spPr bwMode="auto">
          <a:xfrm>
            <a:off x="969963" y="2509838"/>
            <a:ext cx="3825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ko-KR" sz="1600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itchFamily="50" charset="-127"/>
                <a:ea typeface="나눔고딕 ExtraBold" pitchFamily="50" charset="-127"/>
              </a:rPr>
              <a:t>1)</a:t>
            </a:r>
            <a:endParaRPr kumimoji="0" lang="ko-KR" altLang="en-US" sz="1600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</a:t>
              </a: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 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분류</a:t>
              </a:r>
            </a:p>
          </p:txBody>
        </p:sp>
      </p:grpSp>
      <p:sp>
        <p:nvSpPr>
          <p:cNvPr id="15" name="모서리가 둥근 직사각형 14"/>
          <p:cNvSpPr/>
          <p:nvPr/>
        </p:nvSpPr>
        <p:spPr>
          <a:xfrm>
            <a:off x="2195736" y="1131888"/>
            <a:ext cx="2375644" cy="906300"/>
          </a:xfrm>
          <a:prstGeom prst="roundRect">
            <a:avLst/>
          </a:prstGeom>
          <a:solidFill>
            <a:srgbClr val="003366"/>
          </a:solidFill>
          <a:ln w="19050">
            <a:noFill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을 통과하는 </a:t>
            </a:r>
            <a:r>
              <a:rPr lang="en-US" altLang="ko-KR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/>
            </a:r>
            <a:br>
              <a:rPr lang="en-US" altLang="ko-KR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기체의 흐름 방향에 따라</a:t>
            </a:r>
            <a:endParaRPr lang="en-US" altLang="ko-KR" sz="1500" b="1" dirty="0" smtClean="0">
              <a:solidFill>
                <a:srgbClr val="FFFF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683568" y="2787774"/>
            <a:ext cx="180082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5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Centrifugal Fan</a:t>
            </a:r>
          </a:p>
        </p:txBody>
      </p:sp>
      <p:sp>
        <p:nvSpPr>
          <p:cNvPr id="23" name="모서리가 둥근 직사각형 22"/>
          <p:cNvSpPr/>
          <p:nvPr/>
        </p:nvSpPr>
        <p:spPr>
          <a:xfrm>
            <a:off x="4427984" y="2787774"/>
            <a:ext cx="180082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5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Axial Fan</a:t>
            </a:r>
          </a:p>
        </p:txBody>
      </p:sp>
      <p:cxnSp>
        <p:nvCxnSpPr>
          <p:cNvPr id="24" name="꺾인 연결선 23"/>
          <p:cNvCxnSpPr>
            <a:stCxn id="15" idx="2"/>
            <a:endCxn id="20" idx="0"/>
          </p:cNvCxnSpPr>
          <p:nvPr/>
        </p:nvCxnSpPr>
        <p:spPr>
          <a:xfrm rot="5400000">
            <a:off x="2108975" y="1513191"/>
            <a:ext cx="749586" cy="179958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15" idx="2"/>
            <a:endCxn id="23" idx="0"/>
          </p:cNvCxnSpPr>
          <p:nvPr/>
        </p:nvCxnSpPr>
        <p:spPr>
          <a:xfrm rot="16200000" flipH="1">
            <a:off x="3981183" y="1440563"/>
            <a:ext cx="749586" cy="194483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(1) Centrifugal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기본 구조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051720" y="4515966"/>
            <a:ext cx="2808312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Belt Driven Centrifugal Fan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1" name="_x93764384" descr="EMB000004f4055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635646"/>
            <a:ext cx="3960440" cy="2731887"/>
          </a:xfrm>
          <a:prstGeom prst="rect">
            <a:avLst/>
          </a:prstGeom>
          <a:noFill/>
        </p:spPr>
      </p:pic>
      <p:sp>
        <p:nvSpPr>
          <p:cNvPr id="20" name="직사각형 19"/>
          <p:cNvSpPr/>
          <p:nvPr/>
        </p:nvSpPr>
        <p:spPr>
          <a:xfrm>
            <a:off x="1835696" y="1779662"/>
            <a:ext cx="504056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Air In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4667255" y="1995686"/>
            <a:ext cx="36004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4595247" y="1923678"/>
            <a:ext cx="504056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Air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33910" cy="276999"/>
            <a:chOff x="478663" y="7171871"/>
            <a:chExt cx="4933460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6263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 Centrifugal Fan</a:t>
              </a:r>
              <a:endParaRPr lang="ko-KR" altLang="en-US" b="1" dirty="0" smtClean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(2) Centrifugal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기본 특성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3" name="그룹 163"/>
          <p:cNvGrpSpPr>
            <a:grpSpLocks/>
          </p:cNvGrpSpPr>
          <p:nvPr/>
        </p:nvGrpSpPr>
        <p:grpSpPr bwMode="auto">
          <a:xfrm>
            <a:off x="395536" y="1635559"/>
            <a:ext cx="5905500" cy="2736391"/>
            <a:chOff x="647700" y="5985284"/>
            <a:chExt cx="7848600" cy="714828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700112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539800" y="3291830"/>
            <a:ext cx="5761236" cy="923330"/>
          </a:xfrm>
          <a:prstGeom prst="rect">
            <a:avLst/>
          </a:prstGeom>
          <a:solidFill>
            <a:schemeClr val="bg1"/>
          </a:solidFill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Axial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비해 성능 면에서 효율이 좋고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높은 압력을 발생 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가혹한 조건에 사용가능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177800" indent="-92075" latinLnBrk="0">
              <a:buClr>
                <a:srgbClr val="00B0F0"/>
              </a:buClr>
              <a:buFont typeface="나눔고딕" pitchFamily="50" charset="-127"/>
              <a:buChar char="-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높은 온도나 </a:t>
            </a:r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분체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취급 공정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(Material Handling Process)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539552" y="1779662"/>
          <a:ext cx="5616624" cy="1440160"/>
        </p:xfrm>
        <a:graphic>
          <a:graphicData uri="http://schemas.openxmlformats.org/drawingml/2006/table">
            <a:tbl>
              <a:tblPr/>
              <a:tblGrid>
                <a:gridCol w="1224136"/>
                <a:gridCol w="4392488"/>
              </a:tblGrid>
              <a:tr h="584443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흐름방향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축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(Shaft)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방향으로 들어와서 축과 직각방향으로 나감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400" b="1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반경류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8557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원리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Impeller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회전에 의해 운동에너지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(Kinetic Energy)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를 얻고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Volute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를 통과하면서 속도가 떨어져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/>
                      </a:r>
                      <a:b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ko-KR" altLang="en-US" sz="1400" b="1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정압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(Static Pressure)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의 증가로 변환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(3) Centrifugal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분류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95288" y="2556252"/>
            <a:ext cx="1583667" cy="1080120"/>
          </a:xfrm>
          <a:prstGeom prst="roundRect">
            <a:avLst/>
          </a:prstGeom>
          <a:solidFill>
            <a:srgbClr val="003366"/>
          </a:solidFill>
          <a:ln w="19050">
            <a:noFill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Blade</a:t>
            </a:r>
            <a:r>
              <a:rPr lang="ko-KR" altLang="en-US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의 형상에 따른</a:t>
            </a:r>
            <a:r>
              <a:rPr lang="en-US" altLang="ko-KR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 Centrifugal Fan</a:t>
            </a:r>
            <a:r>
              <a:rPr lang="ko-KR" altLang="en-US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의 종류</a:t>
            </a:r>
            <a:endParaRPr lang="en-US" altLang="ko-KR" sz="1500" b="1" dirty="0" smtClean="0">
              <a:solidFill>
                <a:srgbClr val="FFFF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555157" y="1707654"/>
            <a:ext cx="144078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Forward Curved Blade Fan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2555157" y="2715766"/>
            <a:ext cx="144078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Radial Blade Fan</a:t>
            </a:r>
          </a:p>
        </p:txBody>
      </p:sp>
      <p:cxnSp>
        <p:nvCxnSpPr>
          <p:cNvPr id="26" name="꺾인 연결선 25"/>
          <p:cNvCxnSpPr>
            <a:stCxn id="14" idx="3"/>
            <a:endCxn id="16" idx="1"/>
          </p:cNvCxnSpPr>
          <p:nvPr/>
        </p:nvCxnSpPr>
        <p:spPr>
          <a:xfrm flipV="1">
            <a:off x="1978955" y="2091118"/>
            <a:ext cx="576202" cy="100519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14" idx="3"/>
            <a:endCxn id="24" idx="1"/>
          </p:cNvCxnSpPr>
          <p:nvPr/>
        </p:nvCxnSpPr>
        <p:spPr>
          <a:xfrm>
            <a:off x="1978955" y="3096312"/>
            <a:ext cx="576202" cy="291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48"/>
          <p:cNvSpPr/>
          <p:nvPr/>
        </p:nvSpPr>
        <p:spPr>
          <a:xfrm>
            <a:off x="2555776" y="3723878"/>
            <a:ext cx="144078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Backward Inclined Blade Fan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4428603" y="3367197"/>
            <a:ext cx="1944216" cy="420438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Flat Blade Fan</a:t>
            </a:r>
            <a:endParaRPr lang="ko-KR" altLang="en-US" sz="1400" b="1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4428603" y="3891876"/>
            <a:ext cx="1944216" cy="420437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Curved Blade Fan</a:t>
            </a:r>
            <a:endParaRPr lang="ko-KR" altLang="en-US" sz="1400" b="1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52" name="꺾인 연결선 51"/>
          <p:cNvCxnSpPr>
            <a:stCxn id="49" idx="3"/>
            <a:endCxn id="50" idx="1"/>
          </p:cNvCxnSpPr>
          <p:nvPr/>
        </p:nvCxnSpPr>
        <p:spPr>
          <a:xfrm flipV="1">
            <a:off x="3996556" y="3577416"/>
            <a:ext cx="432047" cy="52992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49" idx="3"/>
            <a:endCxn id="51" idx="1"/>
          </p:cNvCxnSpPr>
          <p:nvPr/>
        </p:nvCxnSpPr>
        <p:spPr>
          <a:xfrm flipV="1">
            <a:off x="3996556" y="4102095"/>
            <a:ext cx="432047" cy="524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4429297" y="4417784"/>
            <a:ext cx="1944216" cy="420437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Airfoil Blade Fan</a:t>
            </a:r>
          </a:p>
        </p:txBody>
      </p:sp>
      <p:cxnSp>
        <p:nvCxnSpPr>
          <p:cNvPr id="55" name="꺾인 연결선 54"/>
          <p:cNvCxnSpPr>
            <a:stCxn id="49" idx="3"/>
            <a:endCxn id="54" idx="1"/>
          </p:cNvCxnSpPr>
          <p:nvPr/>
        </p:nvCxnSpPr>
        <p:spPr>
          <a:xfrm>
            <a:off x="3996556" y="4107342"/>
            <a:ext cx="432741" cy="52066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14" idx="3"/>
            <a:endCxn id="49" idx="1"/>
          </p:cNvCxnSpPr>
          <p:nvPr/>
        </p:nvCxnSpPr>
        <p:spPr>
          <a:xfrm>
            <a:off x="1978955" y="3096312"/>
            <a:ext cx="576821" cy="101103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(4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) Forward Curved Blade Fan 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 Forward Curved Blade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형상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2" name="그룹 163"/>
          <p:cNvGrpSpPr>
            <a:grpSpLocks/>
          </p:cNvGrpSpPr>
          <p:nvPr/>
        </p:nvGrpSpPr>
        <p:grpSpPr bwMode="auto">
          <a:xfrm>
            <a:off x="395288" y="1995714"/>
            <a:ext cx="5905500" cy="2664270"/>
            <a:chOff x="647700" y="5985284"/>
            <a:chExt cx="7848600" cy="695985"/>
          </a:xfrm>
        </p:grpSpPr>
        <p:cxnSp>
          <p:nvCxnSpPr>
            <p:cNvPr id="23" name="직선 연결선 22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647700" y="668126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/>
          <p:cNvSpPr/>
          <p:nvPr/>
        </p:nvSpPr>
        <p:spPr>
          <a:xfrm>
            <a:off x="539552" y="2077471"/>
            <a:ext cx="2880320" cy="1038746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회전방향과 같은 방향의 곡선형태로 구부러진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들로 구성된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Impeller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를 가진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endParaRPr lang="ko-KR" altLang="en-US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0" name="_x94153408" descr="EMB000004f4055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2102394"/>
            <a:ext cx="2232248" cy="1981524"/>
          </a:xfrm>
          <a:prstGeom prst="rect">
            <a:avLst/>
          </a:prstGeom>
          <a:noFill/>
        </p:spPr>
      </p:pic>
      <p:sp>
        <p:nvSpPr>
          <p:cNvPr id="32" name="모서리가 둥근 직사각형 31"/>
          <p:cNvSpPr/>
          <p:nvPr/>
        </p:nvSpPr>
        <p:spPr>
          <a:xfrm>
            <a:off x="3419872" y="4155926"/>
            <a:ext cx="2808312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Forward Curved Blade Fan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(4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) Forward Curved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Forward Curved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용도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714"/>
            <a:ext cx="5905500" cy="2664270"/>
            <a:chOff x="647700" y="5985284"/>
            <a:chExt cx="7848600" cy="695985"/>
          </a:xfrm>
        </p:grpSpPr>
        <p:cxnSp>
          <p:nvCxnSpPr>
            <p:cNvPr id="23" name="직선 연결선 22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647700" y="668126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/>
          <p:cNvSpPr/>
          <p:nvPr/>
        </p:nvSpPr>
        <p:spPr>
          <a:xfrm>
            <a:off x="539552" y="2077471"/>
            <a:ext cx="5688632" cy="2423740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저압의 중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·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소규모 유량의 기체를 다루는 공정에 사용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효율이 낮으나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비교적 낮은 속도로 운전을 할 수 있으므로 소음이 적음 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크기가 작다는 이유로 인해 사용되는 경우도 많음 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주거 지역의 난방이나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환기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공기조화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(HVAC)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많이 사용됨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청결한 공정에 국한되어 사용되며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일반적으로 높은 압력이나 가혹한 공정에 사용되도록 제작되지 않음 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(4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) Forward Curved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특성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c.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Forward Curved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성능 곡선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7" name="_x94119544" descr="EMB000004f4055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139121"/>
            <a:ext cx="2376264" cy="2088813"/>
          </a:xfrm>
          <a:prstGeom prst="rect">
            <a:avLst/>
          </a:prstGeom>
          <a:noFill/>
        </p:spPr>
      </p:pic>
      <p:sp>
        <p:nvSpPr>
          <p:cNvPr id="18" name="모서리가 둥근 직사각형 17"/>
          <p:cNvSpPr/>
          <p:nvPr/>
        </p:nvSpPr>
        <p:spPr>
          <a:xfrm>
            <a:off x="395536" y="4299942"/>
            <a:ext cx="3096344" cy="504056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Forward Curved Blade Centrifugal Fan Performance Curve</a:t>
            </a:r>
            <a:endParaRPr lang="ko-KR" altLang="en-US" sz="14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9" name="그룹 163"/>
          <p:cNvGrpSpPr>
            <a:grpSpLocks/>
          </p:cNvGrpSpPr>
          <p:nvPr/>
        </p:nvGrpSpPr>
        <p:grpSpPr bwMode="auto">
          <a:xfrm>
            <a:off x="395288" y="1995721"/>
            <a:ext cx="5905500" cy="2952290"/>
            <a:chOff x="647700" y="5985284"/>
            <a:chExt cx="7848600" cy="77122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647700" y="6756508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직사각형 23"/>
          <p:cNvSpPr/>
          <p:nvPr/>
        </p:nvSpPr>
        <p:spPr>
          <a:xfrm>
            <a:off x="3563888" y="2222450"/>
            <a:ext cx="2808312" cy="2077492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정밀하게 유량을 조절해야 하는 공정에는 적합하지 않음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449263" latinLnBrk="0">
              <a:buClr>
                <a:srgbClr val="00B0F0"/>
              </a:buClr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449263" latinLnBrk="0">
              <a:buClr>
                <a:srgbClr val="00B0F0"/>
              </a:buClr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유량이 감소할 때 압력이 꾸준히 상승하지 않고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상승하다 하강을 하고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다시 상승하는 특성으로 인해 일정압력에 따른 유량의 조절이 쉽지 않음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아래쪽 화살표 25"/>
          <p:cNvSpPr/>
          <p:nvPr/>
        </p:nvSpPr>
        <p:spPr>
          <a:xfrm rot="16200000">
            <a:off x="3779911" y="2973766"/>
            <a:ext cx="216024" cy="216024"/>
          </a:xfrm>
          <a:prstGeom prst="downArrow">
            <a:avLst/>
          </a:prstGeom>
          <a:solidFill>
            <a:srgbClr val="1B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Radial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Radial Blade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형상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8" name="그룹 163"/>
          <p:cNvGrpSpPr>
            <a:grpSpLocks/>
          </p:cNvGrpSpPr>
          <p:nvPr/>
        </p:nvGrpSpPr>
        <p:grpSpPr bwMode="auto">
          <a:xfrm>
            <a:off x="395288" y="1995702"/>
            <a:ext cx="5905500" cy="2304240"/>
            <a:chOff x="647700" y="5985284"/>
            <a:chExt cx="7848600" cy="601935"/>
          </a:xfrm>
        </p:grpSpPr>
        <p:cxnSp>
          <p:nvCxnSpPr>
            <p:cNvPr id="29" name="직선 연결선 28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>
            <a:xfrm>
              <a:off x="647700" y="658721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모서리가 둥근 직사각형 32"/>
          <p:cNvSpPr/>
          <p:nvPr/>
        </p:nvSpPr>
        <p:spPr>
          <a:xfrm>
            <a:off x="3563888" y="3795886"/>
            <a:ext cx="2160240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Radial Blade Fan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059832" y="2139702"/>
            <a:ext cx="3024336" cy="1512168"/>
            <a:chOff x="1691680" y="3139769"/>
            <a:chExt cx="5718636" cy="2953527"/>
          </a:xfrm>
        </p:grpSpPr>
        <p:pic>
          <p:nvPicPr>
            <p:cNvPr id="35" name="_x94164272" descr="EMB000004f4055f"/>
            <p:cNvPicPr>
              <a:picLocks noChangeAspect="1" noChangeArrowheads="1"/>
            </p:cNvPicPr>
            <p:nvPr/>
          </p:nvPicPr>
          <p:blipFill>
            <a:blip r:embed="rId2" cstate="print"/>
            <a:srcRect l="7124" t="1433" r="7549" b="1306"/>
            <a:stretch>
              <a:fillRect/>
            </a:stretch>
          </p:blipFill>
          <p:spPr bwMode="auto">
            <a:xfrm>
              <a:off x="1691680" y="3139769"/>
              <a:ext cx="3219830" cy="2953527"/>
            </a:xfrm>
            <a:prstGeom prst="rect">
              <a:avLst/>
            </a:prstGeom>
            <a:noFill/>
          </p:spPr>
        </p:pic>
        <p:pic>
          <p:nvPicPr>
            <p:cNvPr id="36" name="_x94103200" descr="EMB000004f4056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63066" y="3139770"/>
              <a:ext cx="2247250" cy="2808312"/>
            </a:xfrm>
            <a:prstGeom prst="rect">
              <a:avLst/>
            </a:prstGeom>
            <a:noFill/>
          </p:spPr>
        </p:pic>
      </p:grpSp>
      <p:sp>
        <p:nvSpPr>
          <p:cNvPr id="31" name="직사각형 30"/>
          <p:cNvSpPr/>
          <p:nvPr/>
        </p:nvSpPr>
        <p:spPr>
          <a:xfrm>
            <a:off x="539552" y="2077471"/>
            <a:ext cx="2448272" cy="1384995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원주방향으로 일직선인 단순한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Flat 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들로 구성된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Impeller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를 가진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endParaRPr lang="ko-KR" altLang="en-US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Radial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Radial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용도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712"/>
            <a:ext cx="5905500" cy="2592264"/>
            <a:chOff x="647700" y="5985284"/>
            <a:chExt cx="7848600" cy="677175"/>
          </a:xfrm>
        </p:grpSpPr>
        <p:cxnSp>
          <p:nvCxnSpPr>
            <p:cNvPr id="29" name="직선 연결선 28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>
            <a:xfrm>
              <a:off x="647700" y="666245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539552" y="2077471"/>
            <a:ext cx="5760640" cy="2423740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고압의 중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·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소규모 유량의 기체를 다루는 공정에 사용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Flat 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이므로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작은 입자가  잘 달라붙지 않는 장점이 있음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531813" indent="-4763" latinLnBrk="0">
              <a:lnSpc>
                <a:spcPct val="150000"/>
              </a:lnSpc>
              <a:buClr>
                <a:srgbClr val="00B0F0"/>
              </a:buClr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먼지 등 이물질이 포함된 기체 취급하는 공정에 적합 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설계구조상 단순하고 견고한 특성을 가지고 있음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저렴한 비용으로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보호막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(Coating)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을 입혀 부식이나 침식에 대한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Impeller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저항력을 높일 수 있음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아래쪽 화살표 19"/>
          <p:cNvSpPr/>
          <p:nvPr/>
        </p:nvSpPr>
        <p:spPr>
          <a:xfrm rot="16200000">
            <a:off x="827584" y="3171061"/>
            <a:ext cx="216024" cy="216024"/>
          </a:xfrm>
          <a:prstGeom prst="downArrow">
            <a:avLst/>
          </a:prstGeom>
          <a:solidFill>
            <a:srgbClr val="1B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Radial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c.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Radial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성능 곡선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691680" y="4587974"/>
            <a:ext cx="3600400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Radial Blade Fan Performance Curve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5" name="_x94103200" descr="EMB000004f4056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995686"/>
            <a:ext cx="2880320" cy="25314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23850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(6)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Backward Inclined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423050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 Backward Inclined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형상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4" name="그룹 163"/>
          <p:cNvGrpSpPr>
            <a:grpSpLocks/>
          </p:cNvGrpSpPr>
          <p:nvPr/>
        </p:nvGrpSpPr>
        <p:grpSpPr bwMode="auto">
          <a:xfrm>
            <a:off x="395288" y="1995712"/>
            <a:ext cx="5905500" cy="2592264"/>
            <a:chOff x="647700" y="5985284"/>
            <a:chExt cx="7848600" cy="67717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66245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모서리가 둥근 직사각형 16"/>
          <p:cNvSpPr/>
          <p:nvPr/>
        </p:nvSpPr>
        <p:spPr>
          <a:xfrm>
            <a:off x="2483768" y="4083918"/>
            <a:ext cx="3960440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Backward Inclined Fan- Flat Blade Type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819428" y="2132857"/>
            <a:ext cx="3552772" cy="1807045"/>
            <a:chOff x="1763688" y="2996953"/>
            <a:chExt cx="5572976" cy="2933290"/>
          </a:xfrm>
        </p:grpSpPr>
        <p:pic>
          <p:nvPicPr>
            <p:cNvPr id="23" name="_x94199624" descr="EMB000004f4056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63688" y="2996953"/>
              <a:ext cx="3609994" cy="2933290"/>
            </a:xfrm>
            <a:prstGeom prst="rect">
              <a:avLst/>
            </a:prstGeom>
            <a:noFill/>
          </p:spPr>
        </p:pic>
        <p:pic>
          <p:nvPicPr>
            <p:cNvPr id="24" name="_x94388096" descr="EMB000004f4056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52300" y="3140970"/>
              <a:ext cx="2184364" cy="2592287"/>
            </a:xfrm>
            <a:prstGeom prst="rect">
              <a:avLst/>
            </a:prstGeom>
            <a:noFill/>
          </p:spPr>
        </p:pic>
      </p:grpSp>
      <p:sp>
        <p:nvSpPr>
          <p:cNvPr id="22" name="직사각형 21"/>
          <p:cNvSpPr/>
          <p:nvPr/>
        </p:nvSpPr>
        <p:spPr>
          <a:xfrm>
            <a:off x="539552" y="2077471"/>
            <a:ext cx="2448272" cy="1344599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회전방향에 대해 반대로 기울어진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들로 구성된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Impeller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를 가진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endParaRPr lang="ko-KR" altLang="en-US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(6)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Backward Inclined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endParaRPr lang="en-US" altLang="ko-KR" sz="1600" b="1" dirty="0">
              <a:latin typeface="나눔고딕" pitchFamily="50" charset="-127"/>
              <a:ea typeface="나눔고딕" pitchFamily="50" charset="-127"/>
            </a:endParaRPr>
          </a:p>
          <a:p>
            <a:pPr marL="0">
              <a:lnSpc>
                <a:spcPct val="150000"/>
              </a:lnSpc>
            </a:pP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 Backward Inclined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종류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683567" y="1995686"/>
          <a:ext cx="5904558" cy="1872206"/>
        </p:xfrm>
        <a:graphic>
          <a:graphicData uri="http://schemas.openxmlformats.org/drawingml/2006/table">
            <a:tbl>
              <a:tblPr/>
              <a:tblGrid>
                <a:gridCol w="605161"/>
                <a:gridCol w="1907294"/>
                <a:gridCol w="3392103"/>
              </a:tblGrid>
              <a:tr h="370403">
                <a:tc rowSpan="3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종류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</a:pP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Flat Blade Fan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다른 형상에 비해 견고함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489701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Curved Blade Fan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Flat Blade Fan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 비해 효율이 더 좋음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1012102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Airfoil Blade Fan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다른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Fan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들에 비해 효율이 가장 좋음</a:t>
                      </a:r>
                      <a:endParaRPr lang="en-US" altLang="ko-KR" sz="1400" b="1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201613" marR="0" indent="-1158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제작업체의 설계와 제작능력에 따라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85%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이상의 효율도 낼 수 있음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(6)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Backward Inclined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c.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Backward Inclined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용도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0" name="그룹 163"/>
          <p:cNvGrpSpPr>
            <a:grpSpLocks/>
          </p:cNvGrpSpPr>
          <p:nvPr/>
        </p:nvGrpSpPr>
        <p:grpSpPr bwMode="auto">
          <a:xfrm>
            <a:off x="395288" y="1995631"/>
            <a:ext cx="5905500" cy="2232300"/>
            <a:chOff x="647700" y="5985284"/>
            <a:chExt cx="7848600" cy="583144"/>
          </a:xfrm>
        </p:grpSpPr>
        <p:cxnSp>
          <p:nvCxnSpPr>
            <p:cNvPr id="11" name="직선 연결선 10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>
              <a:off x="647700" y="6568428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/>
          <p:cNvSpPr/>
          <p:nvPr/>
        </p:nvSpPr>
        <p:spPr>
          <a:xfrm>
            <a:off x="539552" y="2077471"/>
            <a:ext cx="5760640" cy="2077492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Backward Inclined 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방향은 기체의 흐름과 충돌하는 각도가 작기 때문 작은 입자가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 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점차 고착하게 되어 성능이 떨어지게 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531813" indent="-4763" latinLnBrk="0">
              <a:lnSpc>
                <a:spcPct val="150000"/>
              </a:lnSpc>
              <a:buClr>
                <a:srgbClr val="00B0F0"/>
              </a:buClr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청결상태에 대한 주기적 점검과 청소 필요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Induced Draft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보다는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Forced Draft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으로 많이 사용됨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운전효율이 높기 때문에 운전비용이 적게 든다는 장점이 있음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아래쪽 화살표 14"/>
          <p:cNvSpPr/>
          <p:nvPr/>
        </p:nvSpPr>
        <p:spPr>
          <a:xfrm rot="16200000">
            <a:off x="827584" y="3178810"/>
            <a:ext cx="216024" cy="216024"/>
          </a:xfrm>
          <a:prstGeom prst="downArrow">
            <a:avLst/>
          </a:prstGeom>
          <a:solidFill>
            <a:srgbClr val="1B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Centrifugal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(6)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Backward Inclined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21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d.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Backward Inclined Blade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성능 곡선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3" name="그룹 163"/>
          <p:cNvGrpSpPr>
            <a:grpSpLocks/>
          </p:cNvGrpSpPr>
          <p:nvPr/>
        </p:nvGrpSpPr>
        <p:grpSpPr bwMode="auto">
          <a:xfrm>
            <a:off x="395288" y="1995721"/>
            <a:ext cx="5905500" cy="2952290"/>
            <a:chOff x="647700" y="5985284"/>
            <a:chExt cx="7848600" cy="771224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647700" y="6756508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3563888" y="2077471"/>
            <a:ext cx="2808312" cy="2077492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동력곡선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(Power Curve)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은 유량이 점차 증가함에 따라 폭넓은 영역에서 꾸준히 증가하다가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최대 유량에 도달할 즈음부터 점차 감소하기 시작함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과부하 염려가 없음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2" name="_x94103696" descr="EMB000004f4056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139702"/>
            <a:ext cx="3024336" cy="2160240"/>
          </a:xfrm>
          <a:prstGeom prst="rect">
            <a:avLst/>
          </a:prstGeom>
          <a:noFill/>
        </p:spPr>
      </p:pic>
      <p:sp>
        <p:nvSpPr>
          <p:cNvPr id="11" name="모서리가 둥근 직사각형 10"/>
          <p:cNvSpPr/>
          <p:nvPr/>
        </p:nvSpPr>
        <p:spPr>
          <a:xfrm>
            <a:off x="467544" y="4299942"/>
            <a:ext cx="3096344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Backward Inclined Blade Fan Curve</a:t>
            </a:r>
            <a:endParaRPr lang="ko-KR" altLang="en-US" sz="14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Airfoil Blade </a:t>
              </a: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(1)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Airfoil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형상</a:t>
            </a:r>
            <a:endParaRPr lang="en-US" altLang="ko-KR" sz="1600" b="1" dirty="0" smtClean="0"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555776" y="4443958"/>
            <a:ext cx="1944216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Airfoil Blade Fan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1" name="_x94133712" descr="EMB000004f4056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091565"/>
            <a:ext cx="2770372" cy="220837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Airfoil Blade</a:t>
              </a: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 </a:t>
              </a: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(2)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Airfoil Blade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특성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683568" y="1707654"/>
          <a:ext cx="5904557" cy="2088232"/>
        </p:xfrm>
        <a:graphic>
          <a:graphicData uri="http://schemas.openxmlformats.org/drawingml/2006/table">
            <a:tbl>
              <a:tblPr/>
              <a:tblGrid>
                <a:gridCol w="1892486"/>
                <a:gridCol w="4012071"/>
              </a:tblGrid>
              <a:tr h="20882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Airfoil Blade Fan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Fan Impeller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 부속되어 있는 각 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Blade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의 양력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(Lift)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 의존하기 때문에 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Stall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로 인한 불안정한 운전에 매우 민감함</a:t>
                      </a:r>
                      <a:endParaRPr lang="en-US" altLang="ko-KR" sz="1500" b="1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얇은 두께로 만들어 회전체의 중량이 적기 때문에 다른 형태의 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Blade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를 가진 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Fan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보다 효율이 좋으나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Blade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의 두께가 얇기 때문에 침식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(Erosion)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 대해 매우 민감함</a:t>
                      </a:r>
                      <a:endParaRPr lang="en-US" altLang="ko-KR" sz="1500" b="1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15484"/>
            <a:ext cx="4968228" cy="276999"/>
            <a:chOff x="478663" y="7181360"/>
            <a:chExt cx="4967775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8" y="7181360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(1) 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기본 특성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539552" y="1635646"/>
          <a:ext cx="5616624" cy="1440160"/>
        </p:xfrm>
        <a:graphic>
          <a:graphicData uri="http://schemas.openxmlformats.org/drawingml/2006/table">
            <a:tbl>
              <a:tblPr/>
              <a:tblGrid>
                <a:gridCol w="1224136"/>
                <a:gridCol w="4392488"/>
              </a:tblGrid>
              <a:tr h="584443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흐름방향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축 방향으로 들어와서 축 방향으로 그대로 나감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/>
                      </a:r>
                      <a:b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400" b="1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축류형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8557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원리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Fan Blade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가 회전할 때 발생하는 공기동력학적 양력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(Aerodynamic Lift)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으로 기체에 압력 발생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/>
                      </a:r>
                      <a:b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비행기의 날개의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Propeller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작동원리와 같음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(2) 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일반적 용도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536" y="1635571"/>
            <a:ext cx="5905500" cy="2880398"/>
            <a:chOff x="647700" y="5985284"/>
            <a:chExt cx="7848600" cy="752446"/>
          </a:xfrm>
        </p:grpSpPr>
        <p:cxnSp>
          <p:nvCxnSpPr>
            <p:cNvPr id="23" name="직선 연결선 22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647700" y="6737730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539800" y="1707654"/>
            <a:ext cx="5761236" cy="2769989"/>
          </a:xfrm>
          <a:prstGeom prst="rect">
            <a:avLst/>
          </a:prstGeom>
          <a:solidFill>
            <a:schemeClr val="bg1"/>
          </a:solidFill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이물질이 많이 포함되지 않은 낮은 압력의 대 유량의 기체를 이송하는 공정에 주로 사용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같은 유량을 다루는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Centrifugal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과 비교할 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기체의 흐름을 반대방향으로 바꿔주어야 할 필요가 있는 환기설비에 유용하게 적용됨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55576" y="2787774"/>
          <a:ext cx="5400600" cy="873646"/>
        </p:xfrm>
        <a:graphic>
          <a:graphicData uri="http://schemas.openxmlformats.org/drawingml/2006/table">
            <a:tbl>
              <a:tblPr/>
              <a:tblGrid>
                <a:gridCol w="2700300"/>
                <a:gridCol w="2700300"/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장점</a:t>
                      </a:r>
                      <a:endParaRPr lang="en-US" altLang="ko-KR" sz="1500" b="1" dirty="0" smtClean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단점</a:t>
                      </a:r>
                      <a:endParaRPr lang="en-US" altLang="ko-KR" sz="1500" b="1" dirty="0" smtClean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</a:tr>
              <a:tr h="553606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회전체의 구성이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/>
                      </a:r>
                      <a:b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단순하고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간결함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높은 회전수로 인해 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/>
                      </a:r>
                      <a:b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소음이 더 큼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(3) 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분류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450505" y="1707654"/>
            <a:ext cx="2087376" cy="576064"/>
          </a:xfrm>
          <a:prstGeom prst="roundRect">
            <a:avLst/>
          </a:prstGeom>
          <a:solidFill>
            <a:srgbClr val="003366"/>
          </a:solidFill>
          <a:ln w="19050">
            <a:noFill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1500" b="1" dirty="0" smtClean="0">
                <a:solidFill>
                  <a:srgbClr val="FFFF00"/>
                </a:solidFill>
                <a:latin typeface="나눔고딕" pitchFamily="50" charset="-127"/>
                <a:ea typeface="나눔고딕" pitchFamily="50" charset="-127"/>
              </a:rPr>
              <a:t>Axial Fan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82948" y="3172975"/>
            <a:ext cx="144078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5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Propeller </a:t>
            </a:r>
            <a:br>
              <a:rPr lang="en-US" altLang="ko-KR" sz="15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15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Fan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771180" y="3172975"/>
            <a:ext cx="144078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5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Tube-axial Fan</a:t>
            </a:r>
          </a:p>
        </p:txBody>
      </p:sp>
      <p:cxnSp>
        <p:nvCxnSpPr>
          <p:cNvPr id="17" name="꺾인 연결선 16"/>
          <p:cNvCxnSpPr>
            <a:stCxn id="13" idx="2"/>
            <a:endCxn id="15" idx="0"/>
          </p:cNvCxnSpPr>
          <p:nvPr/>
        </p:nvCxnSpPr>
        <p:spPr>
          <a:xfrm rot="5400000">
            <a:off x="2004138" y="1682919"/>
            <a:ext cx="889257" cy="209085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3" idx="2"/>
            <a:endCxn id="16" idx="0"/>
          </p:cNvCxnSpPr>
          <p:nvPr/>
        </p:nvCxnSpPr>
        <p:spPr>
          <a:xfrm rot="5400000">
            <a:off x="3048254" y="2727035"/>
            <a:ext cx="889257" cy="262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18"/>
          <p:cNvSpPr/>
          <p:nvPr/>
        </p:nvSpPr>
        <p:spPr>
          <a:xfrm>
            <a:off x="4931420" y="3172975"/>
            <a:ext cx="1440780" cy="766927"/>
          </a:xfrm>
          <a:prstGeom prst="roundRect">
            <a:avLst>
              <a:gd name="adj" fmla="val 845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500" b="1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Vane-axial Fan</a:t>
            </a:r>
          </a:p>
        </p:txBody>
      </p:sp>
      <p:cxnSp>
        <p:nvCxnSpPr>
          <p:cNvPr id="30" name="꺾인 연결선 29"/>
          <p:cNvCxnSpPr>
            <a:stCxn id="13" idx="2"/>
            <a:endCxn id="19" idx="0"/>
          </p:cNvCxnSpPr>
          <p:nvPr/>
        </p:nvCxnSpPr>
        <p:spPr>
          <a:xfrm rot="16200000" flipH="1">
            <a:off x="4128373" y="1649537"/>
            <a:ext cx="889257" cy="215761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(4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) Propeller Fan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 Propeller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형상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4" name="그룹 163"/>
          <p:cNvGrpSpPr>
            <a:grpSpLocks/>
          </p:cNvGrpSpPr>
          <p:nvPr/>
        </p:nvGrpSpPr>
        <p:grpSpPr bwMode="auto">
          <a:xfrm>
            <a:off x="395288" y="1995621"/>
            <a:ext cx="5905500" cy="2592353"/>
            <a:chOff x="647700" y="5985284"/>
            <a:chExt cx="7848600" cy="677201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662485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539552" y="2077471"/>
            <a:ext cx="5760640" cy="305853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가장 단순한 형태의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Axial Fan</a:t>
            </a:r>
          </a:p>
        </p:txBody>
      </p:sp>
      <p:pic>
        <p:nvPicPr>
          <p:cNvPr id="26" name="_x94137528" descr="EMB000004f4056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5995" y="2571750"/>
            <a:ext cx="2254568" cy="1810004"/>
          </a:xfrm>
          <a:prstGeom prst="rect">
            <a:avLst/>
          </a:prstGeom>
          <a:noFill/>
        </p:spPr>
      </p:pic>
      <p:pic>
        <p:nvPicPr>
          <p:cNvPr id="27" name="_x93878288" descr="EMB000004f40569"/>
          <p:cNvPicPr>
            <a:picLocks noChangeAspect="1" noChangeArrowheads="1"/>
          </p:cNvPicPr>
          <p:nvPr/>
        </p:nvPicPr>
        <p:blipFill>
          <a:blip r:embed="rId3" cstate="print"/>
          <a:srcRect l="2773" b="4637"/>
          <a:stretch>
            <a:fillRect/>
          </a:stretch>
        </p:blipFill>
        <p:spPr bwMode="auto">
          <a:xfrm>
            <a:off x="3419872" y="2571750"/>
            <a:ext cx="1800200" cy="18100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Propeller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 </a:t>
            </a: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Propeller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용도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633"/>
            <a:ext cx="5905500" cy="2232304"/>
            <a:chOff x="647700" y="5985284"/>
            <a:chExt cx="7848600" cy="58314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56842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539552" y="2077471"/>
            <a:ext cx="5760640" cy="2077492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낮은 압력의 대 유량을 발생시킴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높은 압력을 발생시킬 수 없기 때문에 복잡하거나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긴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Duct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를 사용해야 하는 공정에는 사용되지 않음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다른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들에 비해 상대적으로 효율이 낮은 경향이 있으나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단순하고 간단한 구조로 인해 가격이 저렴한 장점이 있음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비효율적인 운전으로 비교적 소음이 큼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(4)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Propeller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Fan   </a:t>
            </a:r>
            <a:r>
              <a:rPr lang="en-US" altLang="ko-KR" sz="1600" b="1" dirty="0" smtClean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c.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Propeller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성능 곡선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614"/>
            <a:ext cx="5905500" cy="2880397"/>
            <a:chOff x="647700" y="5985284"/>
            <a:chExt cx="7848600" cy="752447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737731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3419872" y="2077471"/>
            <a:ext cx="2880320" cy="2077492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Propeller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동력소모량은 다루는 기체의 유량이 증가할수록 낮아짐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Propeller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은 성능곡선상 유량이 거의 최대량에 다다르게 될 때 최대효율은 냄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83568" y="4371950"/>
            <a:ext cx="2160240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Propeller Fan Curve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8" name="_x94153648" descr="EMB000004f4056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139702"/>
            <a:ext cx="2736552" cy="211291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81455" y="1995616"/>
            <a:ext cx="5905500" cy="2664366"/>
            <a:chOff x="647700" y="5985284"/>
            <a:chExt cx="7848600" cy="696013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681297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직사각형 20"/>
          <p:cNvSpPr/>
          <p:nvPr/>
        </p:nvSpPr>
        <p:spPr>
          <a:xfrm>
            <a:off x="539750" y="2067694"/>
            <a:ext cx="5688632" cy="646331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기본적으로 실린더</a:t>
            </a: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(Cylinder) 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안에 </a:t>
            </a: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Propeller Fan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이 설치된 형태 다른 </a:t>
            </a:r>
            <a:r>
              <a:rPr lang="en-US" altLang="ko-KR" sz="1400" b="1" dirty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400" b="1" dirty="0">
                <a:latin typeface="나눔고딕" pitchFamily="50" charset="-127"/>
                <a:ea typeface="나눔고딕" pitchFamily="50" charset="-127"/>
              </a:rPr>
              <a:t>들과 비교할 때</a:t>
            </a:r>
            <a:r>
              <a:rPr lang="en-US" altLang="ko-KR" sz="1400" b="1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1" dirty="0">
                <a:latin typeface="나눔고딕" pitchFamily="50" charset="-127"/>
                <a:ea typeface="나눔고딕" pitchFamily="50" charset="-127"/>
              </a:rPr>
              <a:t>중간 단계의 압력을 발생시키고</a:t>
            </a:r>
            <a:r>
              <a:rPr lang="en-US" altLang="ko-KR" sz="1400" b="1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1" dirty="0">
                <a:latin typeface="나눔고딕" pitchFamily="50" charset="-127"/>
                <a:ea typeface="나눔고딕" pitchFamily="50" charset="-127"/>
              </a:rPr>
              <a:t>대 유량의 기체를 이송하는데 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알맞음</a:t>
            </a:r>
            <a:endParaRPr lang="en-US" altLang="ko-KR" sz="14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3" name="_x94199624" descr="EMB000004f4056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8531" y="2787774"/>
            <a:ext cx="2472408" cy="1802406"/>
          </a:xfrm>
          <a:prstGeom prst="rect">
            <a:avLst/>
          </a:prstGeom>
          <a:noFill/>
        </p:spPr>
      </p:pic>
      <p:pic>
        <p:nvPicPr>
          <p:cNvPr id="24" name="_x94364840" descr="EMB000004f4056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6922" y="2854737"/>
            <a:ext cx="1425158" cy="1668478"/>
          </a:xfrm>
          <a:prstGeom prst="rect">
            <a:avLst/>
          </a:prstGeom>
          <a:noFill/>
        </p:spPr>
      </p:pic>
      <p:sp>
        <p:nvSpPr>
          <p:cNvPr id="2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(5) Tube-axial Fan</a:t>
            </a:r>
            <a:endParaRPr lang="en-US" altLang="ko-KR" sz="16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Tube-axial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특징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 smtClean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(5)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Tube-axial Fan</a:t>
            </a:r>
          </a:p>
          <a:p>
            <a:pPr marL="0">
              <a:lnSpc>
                <a:spcPct val="150000"/>
              </a:lnSpc>
            </a:pP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Tube-axial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성능 곡선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676"/>
            <a:ext cx="5905500" cy="2875565"/>
            <a:chOff x="647700" y="5985284"/>
            <a:chExt cx="7848600" cy="75118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73646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직사각형 20"/>
          <p:cNvSpPr/>
          <p:nvPr/>
        </p:nvSpPr>
        <p:spPr>
          <a:xfrm>
            <a:off x="3131840" y="2077471"/>
            <a:ext cx="3096344" cy="2769989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Propeller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과 매우 흡사한 성능 특성을 가짐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불안정한 운전범위의 영역이 확연히 눈에 띄므로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 영역에서 운전을 하지 않도록 해야 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대부분의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Tube-axial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은 회전속도를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1,100rpm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이하로 낮추기 위하여 벨트로 구동됨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83568" y="4371950"/>
            <a:ext cx="2160240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Tube-axial Fan Curve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8" name="_x93878288" descr="EMB000004f4056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696" y="2218556"/>
            <a:ext cx="2646136" cy="20093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(6) 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Vane-axial Fan</a:t>
            </a: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Vane-axial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형상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676"/>
            <a:ext cx="5905500" cy="2875565"/>
            <a:chOff x="647700" y="5985284"/>
            <a:chExt cx="7848600" cy="75118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73646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539552" y="2077471"/>
            <a:ext cx="5688632" cy="998350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가장 개선된 형태의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Axial Fan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본질적으로는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Tube-axial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이면서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Outlet Vane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을 구비하고 있어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비교적 기체흐름의 형태가 일정함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9" name="_x94392144" descr="EMB000004f4056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936" y="3219822"/>
            <a:ext cx="1296144" cy="1524038"/>
          </a:xfrm>
          <a:prstGeom prst="rect">
            <a:avLst/>
          </a:prstGeom>
          <a:noFill/>
        </p:spPr>
      </p:pic>
      <p:pic>
        <p:nvPicPr>
          <p:cNvPr id="20" name="_x93912128" descr="EMB000004f4056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2085" y="3221768"/>
            <a:ext cx="2554202" cy="151022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(6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) Vane-axial Fan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Vane-axial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용도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682"/>
            <a:ext cx="5905500" cy="2592287"/>
            <a:chOff x="647700" y="5985284"/>
            <a:chExt cx="7848600" cy="677184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662468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539552" y="2077471"/>
            <a:ext cx="5688632" cy="2423740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중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·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고압의 기체를 이송하는데 적용되고 있음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회전체의 중량이 적으므로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신속운전이 필요한 공정에 적용 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비상용 환기설비에 매우 유용하게 사용됨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다른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Axial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과 마찬가지로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기체의 흐름을 반대방향으로 발생시킬 수 있음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Variable-pitch 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를 채용하여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기류의 </a:t>
            </a:r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영각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(Angle of Attack)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을 변화시키면 보다 효율적 운전이 가능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Axial Fan</a:t>
              </a:r>
              <a:endParaRPr lang="ko-KR" altLang="en-US" b="1" dirty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(6</a:t>
            </a:r>
            <a:r>
              <a:rPr lang="en-US" altLang="ko-KR" sz="1600" b="1" dirty="0">
                <a:latin typeface="나눔고딕" pitchFamily="50" charset="-127"/>
                <a:ea typeface="나눔고딕" pitchFamily="50" charset="-127"/>
              </a:rPr>
              <a:t>) Vane-axial Fan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c.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Vane-axial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성능 곡선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995676"/>
            <a:ext cx="5905500" cy="2875565"/>
            <a:chOff x="647700" y="5985284"/>
            <a:chExt cx="7848600" cy="751185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647700" y="673646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/>
          <p:nvPr/>
        </p:nvSpPr>
        <p:spPr>
          <a:xfrm>
            <a:off x="3203848" y="2077471"/>
            <a:ext cx="3096344" cy="2769989"/>
          </a:xfrm>
          <a:prstGeom prst="rect">
            <a:avLst/>
          </a:prstGeom>
          <a:noFill/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최고압력을 내는 유량을 기준으로 볼 때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그 왼쪽은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을 운전하기에 불안정한 영역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효율이 상당히 높고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Airfoil 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를 장착할 시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85%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효율이 가능함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대부분의 경우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Vane-axial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과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Motor Shaft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연결은 직결방식으로 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55576" y="4371950"/>
            <a:ext cx="2160240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Vane-axial Fan Curve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1" name="_x93914960" descr="EMB000004f4057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146548"/>
            <a:ext cx="2736552" cy="21533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617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1)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종류와 특성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5"/>
            <a:ext cx="4968229" cy="276999"/>
            <a:chOff x="478663" y="7171868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68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 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종류에 따른 효율</a:t>
              </a:r>
            </a:p>
          </p:txBody>
        </p:sp>
      </p:grp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27811551"/>
              </p:ext>
            </p:extLst>
          </p:nvPr>
        </p:nvGraphicFramePr>
        <p:xfrm>
          <a:off x="683568" y="1419622"/>
          <a:ext cx="5904559" cy="3063055"/>
        </p:xfrm>
        <a:graphic>
          <a:graphicData uri="http://schemas.openxmlformats.org/drawingml/2006/table">
            <a:tbl>
              <a:tblPr/>
              <a:tblGrid>
                <a:gridCol w="1152131"/>
                <a:gridCol w="2784243"/>
                <a:gridCol w="1968185"/>
              </a:tblGrid>
              <a:tr h="4043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Fan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의 종류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최고 효율 </a:t>
                      </a: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범위</a:t>
                      </a:r>
                      <a:r>
                        <a:rPr lang="en-US" altLang="ko-KR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[%]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</a:tr>
              <a:tr h="379816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Centrifugal Type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Radial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69 - 75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3798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Forward </a:t>
                      </a: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Curved Blades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60 - 65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3798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Backward Curved Blades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72 - 79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3798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Airfoil Type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79 - 85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379816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Axial Type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Propeller 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45 - 50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3798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Tube Axial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67 - 72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3798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Vane Axial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78 - 85</a:t>
                      </a: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19"/>
          <p:cNvSpPr>
            <a:spLocks noChangeArrowheads="1"/>
          </p:cNvSpPr>
          <p:nvPr/>
        </p:nvSpPr>
        <p:spPr bwMode="auto">
          <a:xfrm>
            <a:off x="1012797" y="213995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7" name="직사각형 19"/>
          <p:cNvSpPr>
            <a:spLocks noChangeArrowheads="1"/>
          </p:cNvSpPr>
          <p:nvPr/>
        </p:nvSpPr>
        <p:spPr bwMode="auto">
          <a:xfrm>
            <a:off x="611188" y="2139950"/>
            <a:ext cx="5341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ko-KR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itchFamily="50" charset="-127"/>
                <a:ea typeface="나눔고딕 ExtraBold" pitchFamily="50" charset="-127"/>
              </a:rPr>
              <a:t>10.</a:t>
            </a:r>
            <a:endParaRPr kumimoji="0" lang="ko-KR" altLang="en-US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8" name="직사각형 19"/>
          <p:cNvSpPr>
            <a:spLocks noChangeArrowheads="1"/>
          </p:cNvSpPr>
          <p:nvPr/>
        </p:nvSpPr>
        <p:spPr bwMode="auto">
          <a:xfrm>
            <a:off x="1222375" y="2509838"/>
            <a:ext cx="43576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ko-KR" altLang="en-US" sz="1600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sp>
        <p:nvSpPr>
          <p:cNvPr id="10" name="직사각형 19"/>
          <p:cNvSpPr>
            <a:spLocks noChangeArrowheads="1"/>
          </p:cNvSpPr>
          <p:nvPr/>
        </p:nvSpPr>
        <p:spPr bwMode="auto">
          <a:xfrm>
            <a:off x="969963" y="2509838"/>
            <a:ext cx="3825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ko-KR" sz="1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itchFamily="50" charset="-127"/>
                <a:ea typeface="나눔고딕 ExtraBold" pitchFamily="50" charset="-127"/>
              </a:rPr>
              <a:t>2)</a:t>
            </a:r>
            <a:endParaRPr kumimoji="0" lang="ko-KR" altLang="en-US" sz="1600" dirty="0"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sp>
        <p:nvSpPr>
          <p:cNvPr id="6147" name="직사각형 19"/>
          <p:cNvSpPr>
            <a:spLocks noChangeArrowheads="1"/>
          </p:cNvSpPr>
          <p:nvPr/>
        </p:nvSpPr>
        <p:spPr bwMode="auto">
          <a:xfrm>
            <a:off x="4314894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  <a:endParaRPr kumimoji="0" lang="ko-KR" altLang="en-US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4968229" cy="276999"/>
            <a:chOff x="478663" y="7171871"/>
            <a:chExt cx="4967776" cy="278555"/>
          </a:xfrm>
        </p:grpSpPr>
        <p:sp>
          <p:nvSpPr>
            <p:cNvPr id="6154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0579" y="7171871"/>
              <a:ext cx="4875860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 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종류에 따른 성능 곡선</a:t>
              </a:r>
            </a:p>
          </p:txBody>
        </p:sp>
      </p:grpSp>
      <p:pic>
        <p:nvPicPr>
          <p:cNvPr id="9" name="_x94137528" descr="EMB000004f4057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8401" y="1143068"/>
            <a:ext cx="5538868" cy="3444906"/>
          </a:xfrm>
          <a:prstGeom prst="rect">
            <a:avLst/>
          </a:prstGeom>
          <a:noFill/>
        </p:spPr>
      </p:pic>
      <p:sp>
        <p:nvSpPr>
          <p:cNvPr id="14" name="모서리가 둥근 직사각형 13"/>
          <p:cNvSpPr/>
          <p:nvPr/>
        </p:nvSpPr>
        <p:spPr>
          <a:xfrm>
            <a:off x="2483768" y="4299942"/>
            <a:ext cx="2448272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Air Volume or Quantity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15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성능곡선 </a:t>
              </a: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vs. System Curve</a:t>
              </a:r>
              <a:endParaRPr lang="ko-KR" altLang="en-US" b="1" dirty="0" smtClean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123728" y="4515966"/>
            <a:ext cx="2448272" cy="36004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Fan Performance Curve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9" name="_x94138776" descr="EMB000004f4057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2909" y="1131888"/>
            <a:ext cx="5139251" cy="32400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최대 </a:t>
              </a:r>
              <a:r>
                <a:rPr lang="ko-KR" altLang="en-US" b="1" dirty="0" err="1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효율점</a:t>
              </a: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(Best Efficiency Point : BEP)</a:t>
              </a:r>
              <a:endParaRPr lang="ko-KR" altLang="en-US" b="1" dirty="0" smtClean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678013"/>
            <a:ext cx="5905500" cy="2549921"/>
            <a:chOff x="647700" y="5985284"/>
            <a:chExt cx="7848600" cy="752405"/>
          </a:xfrm>
        </p:grpSpPr>
        <p:cxnSp>
          <p:nvCxnSpPr>
            <p:cNvPr id="12" name="직선 연결선 11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647700" y="673768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/>
          <p:cNvSpPr/>
          <p:nvPr/>
        </p:nvSpPr>
        <p:spPr>
          <a:xfrm>
            <a:off x="539552" y="1687760"/>
            <a:ext cx="5761236" cy="2423740"/>
          </a:xfrm>
          <a:prstGeom prst="rect">
            <a:avLst/>
          </a:prstGeom>
          <a:noFill/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latinLnBrk="0">
              <a:lnSpc>
                <a:spcPct val="150000"/>
              </a:lnSpc>
              <a:buClr>
                <a:srgbClr val="00B0F0"/>
              </a:buClr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을 통과하는 기체의 흐름에 필요한 동력은 압력과 유량을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/>
            </a:r>
            <a:b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곱한 것이고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효율은 아래의 식으로써 표현됨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latinLnBrk="0">
              <a:lnSpc>
                <a:spcPct val="150000"/>
              </a:lnSpc>
              <a:buClr>
                <a:srgbClr val="00B0F0"/>
              </a:buClr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eff.= 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L</a:t>
            </a:r>
            <a:r>
              <a:rPr lang="en-US" altLang="ko-KR" sz="1200" b="1" dirty="0" err="1" smtClean="0">
                <a:latin typeface="나눔고딕" pitchFamily="50" charset="-127"/>
                <a:ea typeface="나눔고딕" pitchFamily="50" charset="-127"/>
              </a:rPr>
              <a:t>th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L</a:t>
            </a:r>
            <a:r>
              <a:rPr lang="en-US" altLang="ko-KR" sz="1200" b="1" dirty="0" err="1" smtClean="0">
                <a:latin typeface="나눔고딕" pitchFamily="50" charset="-127"/>
                <a:ea typeface="나눔고딕" pitchFamily="50" charset="-127"/>
              </a:rPr>
              <a:t>s</a:t>
            </a:r>
            <a:r>
              <a:rPr lang="en-US" altLang="ko-KR" sz="1200" b="1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x 100 [%] </a:t>
            </a:r>
          </a:p>
          <a:p>
            <a:pPr latinLnBrk="0">
              <a:lnSpc>
                <a:spcPct val="150000"/>
              </a:lnSpc>
              <a:buClr>
                <a:srgbClr val="00B0F0"/>
              </a:buClr>
            </a:pP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여기서 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L</a:t>
            </a:r>
            <a:r>
              <a:rPr lang="en-US" altLang="ko-KR" sz="1200" b="1" dirty="0" err="1" smtClean="0">
                <a:latin typeface="나눔고딕" pitchFamily="50" charset="-127"/>
                <a:ea typeface="나눔고딕" pitchFamily="50" charset="-127"/>
              </a:rPr>
              <a:t>th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=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이론동력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= Q x 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P</a:t>
            </a:r>
            <a:r>
              <a:rPr lang="en-US" altLang="ko-KR" sz="1200" b="1" dirty="0" err="1" smtClean="0">
                <a:latin typeface="나눔고딕" pitchFamily="50" charset="-127"/>
                <a:ea typeface="나눔고딕" pitchFamily="50" charset="-127"/>
              </a:rPr>
              <a:t>t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/ 6120 [kW]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 , </a:t>
            </a:r>
          </a:p>
          <a:p>
            <a:pPr latinLnBrk="0">
              <a:lnSpc>
                <a:spcPct val="150000"/>
              </a:lnSpc>
              <a:buClr>
                <a:srgbClr val="00B0F0"/>
              </a:buClr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           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L</a:t>
            </a:r>
            <a:r>
              <a:rPr lang="en-US" altLang="ko-KR" sz="1200" b="1" dirty="0" err="1" smtClean="0">
                <a:latin typeface="나눔고딕" pitchFamily="50" charset="-127"/>
                <a:ea typeface="나눔고딕" pitchFamily="50" charset="-127"/>
              </a:rPr>
              <a:t>s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=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축동력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[kW]</a:t>
            </a:r>
            <a:r>
              <a:rPr lang="en-US" altLang="ko-KR" sz="1200" b="1" dirty="0" smtClean="0">
                <a:latin typeface="나눔고딕" pitchFamily="50" charset="-127"/>
                <a:ea typeface="나눔고딕" pitchFamily="50" charset="-127"/>
              </a:rPr>
              <a:t>   </a:t>
            </a:r>
          </a:p>
          <a:p>
            <a:pPr latinLnBrk="0">
              <a:lnSpc>
                <a:spcPct val="150000"/>
              </a:lnSpc>
              <a:buClr>
                <a:srgbClr val="00B0F0"/>
              </a:buClr>
            </a:pP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       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 Q: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유량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[m</a:t>
            </a:r>
            <a:r>
              <a:rPr lang="en-US" altLang="ko-KR" sz="1500" b="1" baseline="30000" dirty="0" smtClean="0">
                <a:latin typeface="나눔고딕" pitchFamily="50" charset="-127"/>
                <a:ea typeface="나눔고딕" pitchFamily="50" charset="-127"/>
              </a:rPr>
              <a:t>3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/min]</a:t>
            </a:r>
            <a:endParaRPr lang="ko-KR" altLang="en-US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2075" indent="-92075" latinLnBrk="0">
              <a:lnSpc>
                <a:spcPct val="150000"/>
              </a:lnSpc>
              <a:buClr>
                <a:srgbClr val="00B0F0"/>
              </a:buClr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           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P</a:t>
            </a:r>
            <a:r>
              <a:rPr lang="en-US" altLang="ko-KR" sz="1500" b="1" baseline="-25000" dirty="0" err="1" smtClean="0">
                <a:latin typeface="나눔고딕" pitchFamily="50" charset="-127"/>
                <a:ea typeface="나눔고딕" pitchFamily="50" charset="-127"/>
              </a:rPr>
              <a:t>t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: Total Pressure Abs.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[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mmAq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]</a:t>
            </a:r>
            <a:endParaRPr lang="en-US" altLang="ko-KR" sz="1500" b="1" dirty="0" smtClean="0"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(1) Fan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의 효율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016125" y="4155926"/>
            <a:ext cx="4572000" cy="3777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92075" lvl="0" indent="84138" algn="r" latinLnBrk="0">
              <a:lnSpc>
                <a:spcPct val="150000"/>
              </a:lnSpc>
              <a:buClr>
                <a:srgbClr val="00B0F0"/>
              </a:buClr>
            </a:pPr>
            <a:r>
              <a:rPr lang="en-US" altLang="ko-KR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※ </a:t>
            </a:r>
            <a:r>
              <a:rPr lang="ko-KR" altLang="en-US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가급적</a:t>
            </a:r>
            <a:r>
              <a:rPr lang="en-US" altLang="ko-KR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최대 </a:t>
            </a:r>
            <a:r>
              <a:rPr lang="ko-KR" altLang="en-US" sz="1400" b="1" dirty="0" err="1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효율점에서</a:t>
            </a:r>
            <a:r>
              <a:rPr lang="ko-KR" altLang="en-US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 운전되도록 해야 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최대 </a:t>
              </a:r>
              <a:r>
                <a:rPr lang="ko-KR" altLang="en-US" b="1" dirty="0" err="1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효율점</a:t>
              </a: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(Best Efficiency Point)</a:t>
              </a:r>
              <a:endParaRPr lang="ko-KR" altLang="en-US" b="1" dirty="0" smtClean="0">
                <a:ln w="12700">
                  <a:noFill/>
                </a:ln>
                <a:gradFill>
                  <a:gsLst>
                    <a:gs pos="0">
                      <a:srgbClr val="005A9E"/>
                    </a:gs>
                    <a:gs pos="100000">
                      <a:srgbClr val="007AD6"/>
                    </a:gs>
                  </a:gsLst>
                  <a:lin ang="5400000" scaled="1"/>
                </a:gra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39552" y="1779662"/>
            <a:ext cx="5761236" cy="1038746"/>
          </a:xfrm>
          <a:prstGeom prst="rect">
            <a:avLst/>
          </a:prstGeom>
          <a:noFill/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BEP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는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가장 경제적인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을 선정하기 위한 기준이 되는 점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BEP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근처에서 운전을 하면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성능이 향상될 뿐만 아니라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/>
            </a:r>
            <a:b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구성품의 마모도 최소화됨</a:t>
            </a:r>
          </a:p>
        </p:txBody>
      </p:sp>
      <p:sp>
        <p:nvSpPr>
          <p:cNvPr id="13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buClr>
                <a:srgbClr val="00B0F0"/>
              </a:buClr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(2) BEP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운전</a:t>
            </a:r>
            <a:endParaRPr lang="en-US" altLang="ko-KR" sz="16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4" name="그룹 163"/>
          <p:cNvGrpSpPr>
            <a:grpSpLocks/>
          </p:cNvGrpSpPr>
          <p:nvPr/>
        </p:nvGrpSpPr>
        <p:grpSpPr bwMode="auto">
          <a:xfrm>
            <a:off x="395288" y="1678013"/>
            <a:ext cx="5905500" cy="1325785"/>
            <a:chOff x="647700" y="5985284"/>
            <a:chExt cx="7848600" cy="752405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647700" y="673768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_x94869400" descr="EMB00000e7818f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355726"/>
            <a:ext cx="3600400" cy="2374732"/>
          </a:xfrm>
          <a:prstGeom prst="rect">
            <a:avLst/>
          </a:prstGeom>
          <a:noFill/>
        </p:spPr>
      </p:pic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불안정한 운전영역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131683"/>
            <a:ext cx="5905500" cy="1224043"/>
            <a:chOff x="647700" y="5985284"/>
            <a:chExt cx="7848600" cy="996936"/>
          </a:xfrm>
        </p:grpSpPr>
        <p:cxnSp>
          <p:nvCxnSpPr>
            <p:cNvPr id="12" name="직선 연결선 11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647700" y="6982220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/>
          <p:cNvSpPr/>
          <p:nvPr/>
        </p:nvSpPr>
        <p:spPr>
          <a:xfrm>
            <a:off x="539552" y="1210563"/>
            <a:ext cx="5616624" cy="1077218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2075" indent="-9207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시스템 저항 곡선</a:t>
            </a: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(System Resistance Curve)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에 대한 접선 또는 경사선</a:t>
            </a: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(Tangent Line or Slope Line)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의 방향과 같은 방향을 갖는 접선</a:t>
            </a: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유량</a:t>
            </a: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-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압력곡선에 대한 접선</a:t>
            </a: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이 성능곡선상에 부분적으로 포함되어 있음</a:t>
            </a:r>
            <a:endParaRPr lang="en-US" altLang="ko-KR" sz="1400" b="1" dirty="0" smtClean="0">
              <a:latin typeface="나눔고딕" pitchFamily="50" charset="-127"/>
              <a:ea typeface="나눔고딕" pitchFamily="50" charset="-127"/>
            </a:endParaRPr>
          </a:p>
          <a:p>
            <a:pPr marL="446088" latinLnBrk="0">
              <a:buClr>
                <a:srgbClr val="00B0F0"/>
              </a:buClr>
            </a:pPr>
            <a:r>
              <a:rPr lang="en-US" altLang="ko-KR" sz="14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400" b="1" dirty="0" smtClean="0">
                <a:latin typeface="나눔고딕" pitchFamily="50" charset="-127"/>
                <a:ea typeface="나눔고딕" pitchFamily="50" charset="-127"/>
              </a:rPr>
              <a:t>이 이러한 영역 내에서 운전될 경우에는 불안정한 상태가 됨</a:t>
            </a:r>
            <a:endParaRPr lang="en-US" altLang="ko-KR" sz="14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아래쪽 화살표 12"/>
          <p:cNvSpPr/>
          <p:nvPr/>
        </p:nvSpPr>
        <p:spPr>
          <a:xfrm rot="16200000">
            <a:off x="773796" y="2067694"/>
            <a:ext cx="216024" cy="216024"/>
          </a:xfrm>
          <a:prstGeom prst="downArrow">
            <a:avLst/>
          </a:prstGeom>
          <a:solidFill>
            <a:srgbClr val="1B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 b="1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1691680" y="4711452"/>
            <a:ext cx="4248472" cy="308570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Fan Performance Curve</a:t>
            </a:r>
            <a:r>
              <a:rPr lang="ko-KR" altLang="en-US" sz="14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상의 불안정한 영역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grpSp>
        <p:nvGrpSpPr>
          <p:cNvPr id="13" name="그룹 163"/>
          <p:cNvGrpSpPr>
            <a:grpSpLocks/>
          </p:cNvGrpSpPr>
          <p:nvPr/>
        </p:nvGrpSpPr>
        <p:grpSpPr bwMode="auto">
          <a:xfrm>
            <a:off x="395288" y="1702182"/>
            <a:ext cx="5905500" cy="1589641"/>
            <a:chOff x="647700" y="5985284"/>
            <a:chExt cx="7848600" cy="41526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647700" y="6400545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1"/>
          <p:cNvGrpSpPr/>
          <p:nvPr/>
        </p:nvGrpSpPr>
        <p:grpSpPr>
          <a:xfrm>
            <a:off x="395536" y="1129185"/>
            <a:ext cx="2736304" cy="428935"/>
            <a:chOff x="395798" y="1131887"/>
            <a:chExt cx="2682028" cy="364244"/>
          </a:xfrm>
        </p:grpSpPr>
        <p:sp>
          <p:nvSpPr>
            <p:cNvPr id="19" name="직사각형 18"/>
            <p:cNvSpPr/>
            <p:nvPr/>
          </p:nvSpPr>
          <p:spPr>
            <a:xfrm>
              <a:off x="395798" y="1131887"/>
              <a:ext cx="2682028" cy="364244"/>
            </a:xfrm>
            <a:prstGeom prst="rect">
              <a:avLst/>
            </a:prstGeom>
            <a:solidFill>
              <a:srgbClr val="003366"/>
            </a:solidFill>
            <a:ln w="19050">
              <a:noFill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 dirty="0"/>
            </a:p>
          </p:txBody>
        </p:sp>
        <p:sp>
          <p:nvSpPr>
            <p:cNvPr id="20" name="TextBox 20"/>
            <p:cNvSpPr txBox="1">
              <a:spLocks noChangeArrowheads="1"/>
            </p:cNvSpPr>
            <p:nvPr/>
          </p:nvSpPr>
          <p:spPr bwMode="auto">
            <a:xfrm>
              <a:off x="540379" y="1190392"/>
              <a:ext cx="2396288" cy="235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0" rIns="36000" bIns="0" anchor="ctr">
              <a:spAutoFit/>
            </a:bodyPr>
            <a:lstStyle/>
            <a:p>
              <a:pPr algn="ctr" latinLnBrk="0"/>
              <a:r>
                <a:rPr lang="en-US" altLang="ko-KR" b="1" dirty="0" smtClean="0">
                  <a:solidFill>
                    <a:srgbClr val="FFFF00"/>
                  </a:solidFill>
                  <a:latin typeface="나눔고딕" pitchFamily="50" charset="-127"/>
                  <a:ea typeface="나눔고딕" pitchFamily="50" charset="-127"/>
                </a:rPr>
                <a:t>Fan</a:t>
              </a:r>
              <a:r>
                <a:rPr lang="ko-KR" altLang="en-US" b="1" dirty="0" smtClean="0">
                  <a:solidFill>
                    <a:srgbClr val="FFFF00"/>
                  </a:solidFill>
                  <a:latin typeface="나눔고딕" pitchFamily="50" charset="-127"/>
                  <a:ea typeface="나눔고딕" pitchFamily="50" charset="-127"/>
                </a:rPr>
                <a:t>의 유량조절의 방법</a:t>
              </a:r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539552" y="1783961"/>
            <a:ext cx="5761236" cy="1344599"/>
          </a:xfrm>
          <a:prstGeom prst="rect">
            <a:avLst/>
          </a:prstGeom>
          <a:noFill/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Damper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Inlet Guide Vane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 Speed Control</a:t>
            </a:r>
          </a:p>
          <a:p>
            <a:pPr marL="90488" indent="-90488" latinLnBrk="0">
              <a:lnSpc>
                <a:spcPct val="150000"/>
              </a:lnSpc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Variable Pitch Fan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grpSp>
        <p:nvGrpSpPr>
          <p:cNvPr id="4" name="그룹 11"/>
          <p:cNvGrpSpPr/>
          <p:nvPr/>
        </p:nvGrpSpPr>
        <p:grpSpPr>
          <a:xfrm>
            <a:off x="395536" y="921082"/>
            <a:ext cx="5256584" cy="830998"/>
            <a:chOff x="395798" y="955169"/>
            <a:chExt cx="2682028" cy="705668"/>
          </a:xfrm>
        </p:grpSpPr>
        <p:sp>
          <p:nvSpPr>
            <p:cNvPr id="19" name="직사각형 18"/>
            <p:cNvSpPr/>
            <p:nvPr/>
          </p:nvSpPr>
          <p:spPr>
            <a:xfrm>
              <a:off x="395798" y="1131887"/>
              <a:ext cx="2682028" cy="364244"/>
            </a:xfrm>
            <a:prstGeom prst="rect">
              <a:avLst/>
            </a:prstGeom>
            <a:solidFill>
              <a:srgbClr val="003366"/>
            </a:solidFill>
            <a:ln w="19050">
              <a:noFill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 dirty="0"/>
            </a:p>
          </p:txBody>
        </p:sp>
        <p:sp>
          <p:nvSpPr>
            <p:cNvPr id="20" name="TextBox 20"/>
            <p:cNvSpPr txBox="1">
              <a:spLocks noChangeArrowheads="1"/>
            </p:cNvSpPr>
            <p:nvPr/>
          </p:nvSpPr>
          <p:spPr bwMode="auto">
            <a:xfrm>
              <a:off x="540379" y="955169"/>
              <a:ext cx="2396288" cy="7056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0" rIns="36000" bIns="0" anchor="ctr">
              <a:spAutoFit/>
            </a:bodyPr>
            <a:lstStyle/>
            <a:p>
              <a:pPr algn="ctr" latinLnBrk="0"/>
              <a:r>
                <a:rPr lang="ko-KR" altLang="en-US" b="1" dirty="0" smtClean="0">
                  <a:solidFill>
                    <a:srgbClr val="FFFF00"/>
                  </a:solidFill>
                  <a:latin typeface="나눔고딕" pitchFamily="50" charset="-127"/>
                  <a:ea typeface="나눔고딕" pitchFamily="50" charset="-127"/>
                </a:rPr>
                <a:t>유량조절방법에 따른 </a:t>
              </a:r>
              <a:r>
                <a:rPr lang="en-US" altLang="ko-KR" b="1" dirty="0" smtClean="0">
                  <a:solidFill>
                    <a:srgbClr val="FFFF00"/>
                  </a:solidFill>
                  <a:latin typeface="나눔고딕" pitchFamily="50" charset="-127"/>
                  <a:ea typeface="나눔고딕" pitchFamily="50" charset="-127"/>
                </a:rPr>
                <a:t>Fan</a:t>
              </a:r>
              <a:r>
                <a:rPr lang="ko-KR" altLang="en-US" b="1" dirty="0" smtClean="0">
                  <a:solidFill>
                    <a:srgbClr val="FFFF00"/>
                  </a:solidFill>
                  <a:latin typeface="나눔고딕" pitchFamily="50" charset="-127"/>
                  <a:ea typeface="나눔고딕" pitchFamily="50" charset="-127"/>
                </a:rPr>
                <a:t>의 상대적인 운전효율</a:t>
              </a:r>
            </a:p>
          </p:txBody>
        </p:sp>
      </p:grpSp>
      <p:pic>
        <p:nvPicPr>
          <p:cNvPr id="18" name="_x94646184" descr="EMB00000e7818fa"/>
          <p:cNvPicPr>
            <a:picLocks noChangeAspect="1" noChangeArrowheads="1"/>
          </p:cNvPicPr>
          <p:nvPr/>
        </p:nvPicPr>
        <p:blipFill>
          <a:blip r:embed="rId2" cstate="print"/>
          <a:srcRect t="1283" r="998" b="1054"/>
          <a:stretch>
            <a:fillRect/>
          </a:stretch>
        </p:blipFill>
        <p:spPr bwMode="auto">
          <a:xfrm>
            <a:off x="1619672" y="1707654"/>
            <a:ext cx="3024336" cy="2665100"/>
          </a:xfrm>
          <a:prstGeom prst="rect">
            <a:avLst/>
          </a:prstGeom>
          <a:noFill/>
        </p:spPr>
      </p:pic>
      <p:sp>
        <p:nvSpPr>
          <p:cNvPr id="22" name="모서리가 둥근 직사각형 21"/>
          <p:cNvSpPr/>
          <p:nvPr/>
        </p:nvSpPr>
        <p:spPr>
          <a:xfrm>
            <a:off x="1403648" y="4515966"/>
            <a:ext cx="3456384" cy="432048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ko-KR" altLang="en-US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유량조절방법에 따른 </a:t>
            </a: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의 운전효율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83568" y="2139702"/>
            <a:ext cx="5400600" cy="1807046"/>
            <a:chOff x="755576" y="2276872"/>
            <a:chExt cx="7596845" cy="3060342"/>
          </a:xfrm>
        </p:grpSpPr>
        <p:pic>
          <p:nvPicPr>
            <p:cNvPr id="13" name="_x94780384" descr="EMB00000e7818fc"/>
            <p:cNvPicPr>
              <a:picLocks noChangeAspect="1" noChangeArrowheads="1"/>
            </p:cNvPicPr>
            <p:nvPr/>
          </p:nvPicPr>
          <p:blipFill>
            <a:blip r:embed="rId2" cstate="print"/>
            <a:srcRect l="2406"/>
            <a:stretch>
              <a:fillRect/>
            </a:stretch>
          </p:blipFill>
          <p:spPr bwMode="auto">
            <a:xfrm>
              <a:off x="755576" y="2276872"/>
              <a:ext cx="2941146" cy="3060342"/>
            </a:xfrm>
            <a:prstGeom prst="rect">
              <a:avLst/>
            </a:prstGeom>
            <a:noFill/>
          </p:spPr>
        </p:pic>
        <p:pic>
          <p:nvPicPr>
            <p:cNvPr id="15" name="_x94872832" descr="EMB00000e7818fd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07904" y="2276872"/>
              <a:ext cx="2448272" cy="2968146"/>
            </a:xfrm>
            <a:prstGeom prst="rect">
              <a:avLst/>
            </a:prstGeom>
            <a:noFill/>
          </p:spPr>
        </p:pic>
        <p:pic>
          <p:nvPicPr>
            <p:cNvPr id="18" name="_x94626320" descr="EMB00000e7818fb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156176" y="2276872"/>
              <a:ext cx="2196245" cy="3060340"/>
            </a:xfrm>
            <a:prstGeom prst="rect">
              <a:avLst/>
            </a:prstGeom>
            <a:noFill/>
          </p:spPr>
        </p:pic>
      </p:grpSp>
      <p:sp>
        <p:nvSpPr>
          <p:cNvPr id="20" name="모서리가 둥근 직사각형 19"/>
          <p:cNvSpPr/>
          <p:nvPr/>
        </p:nvSpPr>
        <p:spPr>
          <a:xfrm>
            <a:off x="2051720" y="4155926"/>
            <a:ext cx="2808312" cy="432048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Damper(Inlet and Outlet)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(1) Damper</a:t>
            </a:r>
          </a:p>
        </p:txBody>
      </p:sp>
      <p:sp>
        <p:nvSpPr>
          <p:cNvPr id="22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기본 형상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grpSp>
        <p:nvGrpSpPr>
          <p:cNvPr id="15" name="그룹 163"/>
          <p:cNvGrpSpPr>
            <a:grpSpLocks/>
          </p:cNvGrpSpPr>
          <p:nvPr/>
        </p:nvGrpSpPr>
        <p:grpSpPr bwMode="auto">
          <a:xfrm>
            <a:off x="353279" y="1995686"/>
            <a:ext cx="5905500" cy="2016224"/>
            <a:chOff x="647700" y="5985284"/>
            <a:chExt cx="7848600" cy="583106"/>
          </a:xfrm>
        </p:grpSpPr>
        <p:cxnSp>
          <p:nvCxnSpPr>
            <p:cNvPr id="21" name="직선 연결선 20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647700" y="6568390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539552" y="2067694"/>
            <a:ext cx="5761236" cy="2077492"/>
          </a:xfrm>
          <a:prstGeom prst="rect">
            <a:avLst/>
          </a:prstGeom>
          <a:noFill/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Damper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작동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닫음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으로 시스템 저항이 증가하게 되고</a:t>
            </a: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Damper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상류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압력 상승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이에 따라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은 높은 배압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1500" b="1" dirty="0" err="1" smtClean="0">
                <a:latin typeface="나눔고딕" pitchFamily="50" charset="-127"/>
                <a:ea typeface="나눔고딕" pitchFamily="50" charset="-127"/>
              </a:rPr>
              <a:t>BackPressure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상태에서 운전이 되며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유량이 줄어들게 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이 높은 배압상태에서 운전됨에 따라 </a:t>
            </a: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ko-KR" altLang="en-US" sz="1500" b="1" dirty="0" err="1">
                <a:latin typeface="나눔고딕" pitchFamily="50" charset="-127"/>
                <a:ea typeface="나눔고딕" pitchFamily="50" charset="-127"/>
              </a:rPr>
              <a:t>운전점은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 성능 곡선상 왼쪽으로 이동하게 되며</a:t>
            </a: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err="1">
                <a:latin typeface="나눔고딕" pitchFamily="50" charset="-127"/>
                <a:ea typeface="나눔고딕" pitchFamily="50" charset="-127"/>
              </a:rPr>
              <a:t>운전점이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 최고 </a:t>
            </a:r>
            <a:r>
              <a:rPr lang="ko-KR" altLang="en-US" sz="1500" b="1" dirty="0" err="1">
                <a:latin typeface="나눔고딕" pitchFamily="50" charset="-127"/>
                <a:ea typeface="나눔고딕" pitchFamily="50" charset="-127"/>
              </a:rPr>
              <a:t>효율점</a:t>
            </a: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(Best Efficiency Point)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에서 멀어지게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되어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의 운전비용과 유지보수 비용이 증가함</a:t>
            </a:r>
            <a:endParaRPr lang="en-US" altLang="ko-KR" sz="1500" b="1" dirty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(1) Damper</a:t>
            </a: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특징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2051720" y="4515966"/>
            <a:ext cx="2808312" cy="432048"/>
          </a:xfrm>
          <a:prstGeom prst="roundRect">
            <a:avLst>
              <a:gd name="adj" fmla="val 845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0000" anchor="ctr"/>
          <a:lstStyle/>
          <a:p>
            <a:pPr algn="ctr" latinLnBrk="0"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Inlet Guide Vanes</a:t>
            </a:r>
            <a:endParaRPr lang="ko-KR" altLang="en-US" sz="1600" b="1" dirty="0" smtClean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169593" y="2059879"/>
            <a:ext cx="4752528" cy="2376264"/>
            <a:chOff x="1187624" y="1707654"/>
            <a:chExt cx="5904656" cy="2867796"/>
          </a:xfrm>
        </p:grpSpPr>
        <p:pic>
          <p:nvPicPr>
            <p:cNvPr id="10" name="_x94882216" descr="EMB00000e7818fe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87624" y="1707654"/>
              <a:ext cx="2649894" cy="2867796"/>
            </a:xfrm>
            <a:prstGeom prst="rect">
              <a:avLst/>
            </a:prstGeom>
            <a:noFill/>
          </p:spPr>
        </p:pic>
        <p:pic>
          <p:nvPicPr>
            <p:cNvPr id="11" name="_x94871704" descr="EMB00000e7818f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499992" y="1707654"/>
              <a:ext cx="2592288" cy="2815199"/>
            </a:xfrm>
            <a:prstGeom prst="rect">
              <a:avLst/>
            </a:prstGeom>
            <a:noFill/>
          </p:spPr>
        </p:pic>
      </p:grpSp>
      <p:sp>
        <p:nvSpPr>
          <p:cNvPr id="13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(2) Inlet Guide Vane</a:t>
            </a:r>
          </a:p>
        </p:txBody>
      </p:sp>
      <p:sp>
        <p:nvSpPr>
          <p:cNvPr id="15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a.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기본 형상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81478" y="2067694"/>
            <a:ext cx="5905500" cy="2232247"/>
            <a:chOff x="647700" y="5985284"/>
            <a:chExt cx="7848600" cy="583106"/>
          </a:xfrm>
        </p:grpSpPr>
        <p:cxnSp>
          <p:nvCxnSpPr>
            <p:cNvPr id="21" name="직선 연결선 20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647700" y="6568390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539552" y="2150443"/>
            <a:ext cx="5761236" cy="2077492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으로 유입되는 기류를 와류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(Swirl)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형태로 바꾸는 장치로써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b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Axial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보다는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Centrifugal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많이 사용됨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Inlet Guide Vane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은 유입되는 기류를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Impeller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회전방향과 같은 방향의 와류형태로 만들어 줌으로써</a:t>
            </a: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압력과 유량이 줄어들게 되고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이로 인해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가해지는 부하가 줄어 </a:t>
            </a: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의 효율이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증가함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정격유량의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80~100%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범위에서 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효과적이며 </a:t>
            </a: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Vane 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각도를 조절하면 </a:t>
            </a:r>
            <a:endParaRPr lang="en-US" altLang="ko-KR" sz="1500" b="1" dirty="0">
              <a:latin typeface="나눔고딕" pitchFamily="50" charset="-127"/>
              <a:ea typeface="나눔고딕" pitchFamily="50" charset="-127"/>
            </a:endParaRPr>
          </a:p>
          <a:p>
            <a:pPr latinLnBrk="0">
              <a:buClr>
                <a:srgbClr val="00B0F0"/>
              </a:buClr>
            </a:pPr>
            <a:r>
              <a:rPr lang="en-US" altLang="ko-KR" sz="1500" b="1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500" b="1" dirty="0">
                <a:latin typeface="나눔고딕" pitchFamily="50" charset="-127"/>
                <a:ea typeface="나눔고딕" pitchFamily="50" charset="-127"/>
              </a:rPr>
              <a:t>성능 곡선도 달라지므로 더 넓은 범위의 유량 조절이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가능함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95536" y="1131590"/>
            <a:ext cx="6227762" cy="41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(2) Inlet Guide Vane</a:t>
            </a:r>
          </a:p>
        </p:txBody>
      </p:sp>
      <p:sp>
        <p:nvSpPr>
          <p:cNvPr id="13" name="TextBox 56"/>
          <p:cNvSpPr txBox="1">
            <a:spLocks noChangeArrowheads="1"/>
          </p:cNvSpPr>
          <p:nvPr/>
        </p:nvSpPr>
        <p:spPr bwMode="auto">
          <a:xfrm>
            <a:off x="395288" y="1563638"/>
            <a:ext cx="6192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b. </a:t>
            </a:r>
            <a:r>
              <a:rPr lang="ko-KR" altLang="en-US" sz="1600" b="1" dirty="0" smtClean="0">
                <a:latin typeface="나눔고딕" pitchFamily="50" charset="-127"/>
                <a:ea typeface="나눔고딕" pitchFamily="50" charset="-127"/>
              </a:rPr>
              <a:t>특징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sp>
        <p:nvSpPr>
          <p:cNvPr id="14" name="TextBox 33"/>
          <p:cNvSpPr txBox="1">
            <a:spLocks noChangeArrowheads="1"/>
          </p:cNvSpPr>
          <p:nvPr/>
        </p:nvSpPr>
        <p:spPr bwMode="auto">
          <a:xfrm>
            <a:off x="395288" y="1131888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(3) Fan Speed Control</a:t>
            </a: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635643"/>
            <a:ext cx="5905500" cy="2592291"/>
            <a:chOff x="647700" y="5985284"/>
            <a:chExt cx="7848600" cy="733615"/>
          </a:xfrm>
        </p:grpSpPr>
        <p:cxnSp>
          <p:nvCxnSpPr>
            <p:cNvPr id="21" name="직선 연결선 20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647700" y="6718899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539552" y="1717472"/>
            <a:ext cx="5761236" cy="1384995"/>
          </a:xfrm>
          <a:prstGeom prst="rect">
            <a:avLst/>
          </a:prstGeom>
          <a:noFill/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유량조절방법 중 가장 효율적인 방법은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회전수를 조절하는 것임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446088" latinLnBrk="0">
              <a:buClr>
                <a:srgbClr val="00B0F0"/>
              </a:buClr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회전수를 줄임에 따라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기체의 흐름에 부여되는 에너지가 적어지기 때문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회전수를 조절하는 방법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아래쪽 화살표 11"/>
          <p:cNvSpPr/>
          <p:nvPr/>
        </p:nvSpPr>
        <p:spPr>
          <a:xfrm rot="16200000">
            <a:off x="781480" y="2211710"/>
            <a:ext cx="216024" cy="216024"/>
          </a:xfrm>
          <a:prstGeom prst="downArrow">
            <a:avLst/>
          </a:prstGeom>
          <a:solidFill>
            <a:srgbClr val="1B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 b="1"/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755576" y="3219822"/>
          <a:ext cx="4032448" cy="792088"/>
        </p:xfrm>
        <a:graphic>
          <a:graphicData uri="http://schemas.openxmlformats.org/drawingml/2006/table">
            <a:tbl>
              <a:tblPr/>
              <a:tblGrid>
                <a:gridCol w="2631515"/>
                <a:gridCol w="1400933"/>
              </a:tblGrid>
              <a:tr h="396044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</a:pPr>
                      <a:r>
                        <a:rPr lang="en-US" altLang="ko-KR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Multi-speed Motor 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>
                          <a:srgbClr val="00B0F0"/>
                        </a:buClr>
                        <a:buFont typeface="Arial" pitchFamily="34" charset="0"/>
                        <a:buChar char="•"/>
                      </a:pPr>
                      <a:r>
                        <a:rPr lang="ko-KR" altLang="en-US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단계별 변속</a:t>
                      </a:r>
                      <a:endParaRPr lang="en-US" sz="15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Adjustable Speed Driver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lnSpc>
                          <a:spcPct val="100000"/>
                        </a:lnSpc>
                        <a:buClr>
                          <a:srgbClr val="00B0F0"/>
                        </a:buClr>
                        <a:buFont typeface="Arial" pitchFamily="34" charset="0"/>
                        <a:buChar char="•"/>
                      </a:pPr>
                      <a:r>
                        <a:rPr lang="ko-KR" altLang="en-US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무단변속</a:t>
                      </a:r>
                      <a:endParaRPr lang="en-US" altLang="ko-KR" sz="1500" b="1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19"/>
          <p:cNvSpPr>
            <a:spLocks noChangeArrowheads="1"/>
          </p:cNvSpPr>
          <p:nvPr/>
        </p:nvSpPr>
        <p:spPr bwMode="auto">
          <a:xfrm>
            <a:off x="539750" y="50800"/>
            <a:ext cx="2047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Fan</a:t>
            </a:r>
            <a:r>
              <a:rPr kumimoji="0" lang="ko-KR" altLang="en-US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의 종류 및 특성</a:t>
            </a:r>
          </a:p>
        </p:txBody>
      </p:sp>
      <p:grpSp>
        <p:nvGrpSpPr>
          <p:cNvPr id="2" name="그룹 22"/>
          <p:cNvGrpSpPr>
            <a:grpSpLocks/>
          </p:cNvGrpSpPr>
          <p:nvPr/>
        </p:nvGrpSpPr>
        <p:grpSpPr bwMode="auto">
          <a:xfrm>
            <a:off x="323850" y="706048"/>
            <a:ext cx="5616302" cy="276999"/>
            <a:chOff x="478663" y="7171871"/>
            <a:chExt cx="5615790" cy="278555"/>
          </a:xfrm>
        </p:grpSpPr>
        <p:sp>
          <p:nvSpPr>
            <p:cNvPr id="16" name="직사각형 23"/>
            <p:cNvSpPr>
              <a:spLocks noChangeArrowheads="1"/>
            </p:cNvSpPr>
            <p:nvPr/>
          </p:nvSpPr>
          <p:spPr bwMode="auto">
            <a:xfrm rot="5400000">
              <a:off x="399463" y="7282312"/>
              <a:ext cx="216000" cy="57600"/>
            </a:xfrm>
            <a:prstGeom prst="rect">
              <a:avLst/>
            </a:prstGeom>
            <a:gradFill rotWithShape="1">
              <a:gsLst>
                <a:gs pos="0">
                  <a:srgbClr val="2D95C5"/>
                </a:gs>
                <a:gs pos="48000">
                  <a:srgbClr val="2D95C5"/>
                </a:gs>
                <a:gs pos="100000">
                  <a:srgbClr val="3E6CA4"/>
                </a:gs>
              </a:gsLst>
              <a:lin ang="19800000"/>
            </a:gradFill>
            <a:ln w="11113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79" y="7171871"/>
              <a:ext cx="5523874" cy="278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>
                <a:defRPr/>
              </a:pPr>
              <a:r>
                <a:rPr lang="en-US" altLang="ko-KR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Fan</a:t>
              </a:r>
              <a:r>
                <a:rPr lang="ko-KR" altLang="en-US" b="1" dirty="0" smtClean="0">
                  <a:ln w="12700">
                    <a:noFill/>
                  </a:ln>
                  <a:gradFill>
                    <a:gsLst>
                      <a:gs pos="0">
                        <a:srgbClr val="005A9E"/>
                      </a:gs>
                      <a:gs pos="100000">
                        <a:srgbClr val="007AD6"/>
                      </a:gs>
                    </a:gsLst>
                    <a:lin ang="5400000" scaled="1"/>
                  </a:gra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의 유량조절</a:t>
              </a:r>
            </a:p>
          </p:txBody>
        </p:sp>
      </p:grpSp>
      <p:sp>
        <p:nvSpPr>
          <p:cNvPr id="72" name="직사각형 19"/>
          <p:cNvSpPr>
            <a:spLocks noChangeArrowheads="1"/>
          </p:cNvSpPr>
          <p:nvPr/>
        </p:nvSpPr>
        <p:spPr bwMode="auto">
          <a:xfrm>
            <a:off x="3851920" y="59027"/>
            <a:ext cx="14013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2) </a:t>
            </a:r>
            <a:r>
              <a:rPr kumimoji="0" lang="ko-KR" altLang="en-US" b="1" dirty="0" smtClean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성능 곡선</a:t>
            </a:r>
          </a:p>
        </p:txBody>
      </p:sp>
      <p:sp>
        <p:nvSpPr>
          <p:cNvPr id="14" name="TextBox 33"/>
          <p:cNvSpPr txBox="1">
            <a:spLocks noChangeArrowheads="1"/>
          </p:cNvSpPr>
          <p:nvPr/>
        </p:nvSpPr>
        <p:spPr bwMode="auto">
          <a:xfrm>
            <a:off x="395288" y="1131888"/>
            <a:ext cx="622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>
              <a:lnSpc>
                <a:spcPct val="150000"/>
              </a:lnSpc>
            </a:pPr>
            <a:r>
              <a:rPr lang="en-US" altLang="ko-KR" sz="1600" b="1" dirty="0" smtClean="0">
                <a:latin typeface="나눔고딕" pitchFamily="50" charset="-127"/>
                <a:ea typeface="나눔고딕" pitchFamily="50" charset="-127"/>
              </a:rPr>
              <a:t>(4) Variable Pitch Fan</a:t>
            </a:r>
          </a:p>
        </p:txBody>
      </p:sp>
      <p:grpSp>
        <p:nvGrpSpPr>
          <p:cNvPr id="3" name="그룹 163"/>
          <p:cNvGrpSpPr>
            <a:grpSpLocks/>
          </p:cNvGrpSpPr>
          <p:nvPr/>
        </p:nvGrpSpPr>
        <p:grpSpPr bwMode="auto">
          <a:xfrm>
            <a:off x="395288" y="1635636"/>
            <a:ext cx="5905500" cy="3024342"/>
            <a:chOff x="647700" y="5985284"/>
            <a:chExt cx="7848600" cy="790049"/>
          </a:xfrm>
        </p:grpSpPr>
        <p:cxnSp>
          <p:nvCxnSpPr>
            <p:cNvPr id="21" name="직선 연결선 20"/>
            <p:cNvCxnSpPr/>
            <p:nvPr/>
          </p:nvCxnSpPr>
          <p:spPr>
            <a:xfrm>
              <a:off x="647700" y="5985284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647700" y="6775333"/>
              <a:ext cx="7848600" cy="0"/>
            </a:xfrm>
            <a:prstGeom prst="line">
              <a:avLst/>
            </a:prstGeom>
            <a:ln w="12700">
              <a:solidFill>
                <a:srgbClr val="0B89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539552" y="1717472"/>
            <a:ext cx="5761236" cy="461665"/>
          </a:xfrm>
          <a:prstGeom prst="rect">
            <a:avLst/>
          </a:prstGeom>
          <a:noFill/>
        </p:spPr>
        <p:txBody>
          <a:bodyPr lIns="72000" tIns="0" rIns="72000" bIns="0"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1"/>
              </a:contourClr>
            </a:sp3d>
          </a:bodyPr>
          <a:lstStyle/>
          <a:p>
            <a:pPr marL="85725" indent="-85725" latinLnBrk="0">
              <a:buClr>
                <a:srgbClr val="00B0F0"/>
              </a:buClr>
              <a:buFont typeface="Arial" pitchFamily="34" charset="0"/>
              <a:buChar char="•"/>
            </a:pP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Axial Fan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에 많이 적용되는 유량조절방식으로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, Fan Blade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의 각도를 조절하는 것을 말함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611560" y="2355726"/>
          <a:ext cx="5616624" cy="2031746"/>
        </p:xfrm>
        <a:graphic>
          <a:graphicData uri="http://schemas.openxmlformats.org/drawingml/2006/table">
            <a:tbl>
              <a:tblPr/>
              <a:tblGrid>
                <a:gridCol w="2808312"/>
                <a:gridCol w="2808312"/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장점</a:t>
                      </a:r>
                      <a:endParaRPr lang="en-US" altLang="ko-KR" sz="1500" b="1" dirty="0" smtClean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단점</a:t>
                      </a:r>
                      <a:endParaRPr lang="en-US" altLang="ko-KR" sz="1500" b="1" dirty="0" smtClean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66"/>
                    </a:solidFill>
                  </a:tcPr>
                </a:tc>
              </a:tr>
              <a:tr h="553606">
                <a:tc>
                  <a:txBody>
                    <a:bodyPr/>
                    <a:lstStyle/>
                    <a:p>
                      <a:pPr marL="92075" marR="0" indent="-9207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가용 운전범위 내에서 높은 효율을 유지하면서 운전을 할 수 있음</a:t>
                      </a:r>
                    </a:p>
                    <a:p>
                      <a:pPr marL="92075" marR="0" indent="-9207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회전수의 변경을 통해 유량을 조절해야 하는 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Fan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들에 비해 안정적임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indent="-9207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유량조절작동장치인 </a:t>
                      </a:r>
                      <a:r>
                        <a:rPr lang="en-US" altLang="ko-KR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Fan Blade</a:t>
                      </a:r>
                      <a:r>
                        <a:rPr lang="ko-KR" altLang="en-US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를 조정하는데 필요한 </a:t>
                      </a:r>
                      <a:r>
                        <a:rPr lang="en-US" altLang="ko-KR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Mechanical Actuator</a:t>
                      </a:r>
                      <a:r>
                        <a:rPr lang="ko-KR" altLang="en-US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에 대한 관리가 필요함</a:t>
                      </a:r>
                      <a:endParaRPr lang="en-US" altLang="ko-KR" sz="1500" b="1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indent="-9207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운전유량이 정격유량의 </a:t>
                      </a:r>
                      <a:r>
                        <a:rPr lang="en-US" altLang="ko-KR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50% </a:t>
                      </a:r>
                      <a:r>
                        <a:rPr lang="ko-KR" altLang="en-US" sz="1500" b="1" dirty="0" smtClean="0">
                          <a:latin typeface="나눔고딕" pitchFamily="50" charset="-127"/>
                          <a:ea typeface="나눔고딕" pitchFamily="50" charset="-127"/>
                        </a:rPr>
                        <a:t>이하가 될 경우에는 효율이 급격하게 떨어짐</a:t>
                      </a:r>
                      <a:endParaRPr lang="en-US" sz="1500" b="1" dirty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4643" marR="64643" marT="17653" marB="176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30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7814</TotalTime>
  <Words>2002</Words>
  <Application>Microsoft Office PowerPoint</Application>
  <PresentationFormat>화면 슬라이드 쇼(16:9)</PresentationFormat>
  <Paragraphs>354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2" baseType="lpstr">
      <vt:lpstr>굴림</vt:lpstr>
      <vt:lpstr>Arial</vt:lpstr>
      <vt:lpstr>나눔고딕 ExtraBold</vt:lpstr>
      <vt:lpstr>나눔고딕</vt:lpstr>
      <vt:lpstr>Cambria</vt:lpstr>
      <vt:lpstr>맑은 고딕</vt:lpstr>
      <vt:lpstr>Calibri</vt:lpstr>
      <vt:lpstr>바른돋움 2</vt:lpstr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dev4</dc:creator>
  <cp:lastModifiedBy>김선회</cp:lastModifiedBy>
  <cp:revision>1160</cp:revision>
  <cp:lastPrinted>2012-10-16T11:07:55Z</cp:lastPrinted>
  <dcterms:created xsi:type="dcterms:W3CDTF">2012-04-12T01:14:20Z</dcterms:created>
  <dcterms:modified xsi:type="dcterms:W3CDTF">2013-08-11T12:03:28Z</dcterms:modified>
</cp:coreProperties>
</file>